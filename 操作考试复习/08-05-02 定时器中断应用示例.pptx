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81" r:id="rId3"/>
    <p:sldId id="280" r:id="rId4"/>
    <p:sldId id="258" r:id="rId5"/>
    <p:sldId id="282" r:id="rId6"/>
    <p:sldId id="262" r:id="rId7"/>
    <p:sldId id="263" r:id="rId8"/>
    <p:sldId id="283" r:id="rId9"/>
    <p:sldId id="284" r:id="rId10"/>
    <p:sldId id="259" r:id="rId11"/>
    <p:sldId id="264" r:id="rId12"/>
    <p:sldId id="268" r:id="rId13"/>
    <p:sldId id="267" r:id="rId14"/>
    <p:sldId id="269" r:id="rId15"/>
    <p:sldId id="265" r:id="rId16"/>
    <p:sldId id="266" r:id="rId17"/>
    <p:sldId id="270" r:id="rId18"/>
    <p:sldId id="271" r:id="rId19"/>
    <p:sldId id="272" r:id="rId20"/>
    <p:sldId id="275" r:id="rId21"/>
    <p:sldId id="273" r:id="rId22"/>
    <p:sldId id="274" r:id="rId23"/>
    <p:sldId id="276" r:id="rId24"/>
    <p:sldId id="277" r:id="rId25"/>
    <p:sldId id="279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6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797" y="497189"/>
            <a:ext cx="7212927" cy="939727"/>
          </a:xfrm>
          <a:ln>
            <a:noFill/>
          </a:ln>
        </p:spPr>
        <p:txBody>
          <a:bodyPr anchor="b">
            <a:noAutofit/>
          </a:bodyPr>
          <a:lstStyle>
            <a:lvl1pPr algn="l">
              <a:lnSpc>
                <a:spcPct val="85000"/>
              </a:lnSpc>
              <a:defRPr sz="4400" b="0" cap="none" spc="0" baseline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0402" y="2640564"/>
            <a:ext cx="8767860" cy="1093237"/>
          </a:xfrm>
        </p:spPr>
        <p:txBody>
          <a:bodyPr>
            <a:noAutofit/>
          </a:bodyPr>
          <a:lstStyle>
            <a:lvl1pPr marL="0" indent="0" algn="ctr">
              <a:buNone/>
              <a:defRPr sz="66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189" indent="0" algn="ctr">
              <a:buNone/>
              <a:defRPr sz="2200"/>
            </a:lvl2pPr>
            <a:lvl3pPr marL="914377" indent="0" algn="ctr">
              <a:buNone/>
              <a:defRPr sz="22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1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312367" y="4665307"/>
            <a:ext cx="4676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chemeClr val="accent3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华中科技大学   左冬红</a:t>
            </a:r>
            <a:endParaRPr lang="zh-CN" altLang="en-US" sz="3600" dirty="0">
              <a:solidFill>
                <a:schemeClr val="accent3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872" y="4665307"/>
            <a:ext cx="2970779" cy="190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52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564" y="404325"/>
            <a:ext cx="8460848" cy="799323"/>
          </a:xfrm>
        </p:spPr>
        <p:txBody>
          <a:bodyPr/>
          <a:lstStyle>
            <a:lvl1pPr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6390" y="1380932"/>
            <a:ext cx="9872871" cy="4528457"/>
          </a:xfrm>
        </p:spPr>
        <p:txBody>
          <a:bodyPr/>
          <a:lstStyle>
            <a:lvl1pPr>
              <a:defRPr sz="36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>
              <a:defRPr sz="2800"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>
              <a:defRPr sz="2400"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>
              <a:defRPr sz="2000"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357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15213" y="406271"/>
            <a:ext cx="7814387" cy="780661"/>
          </a:xfrm>
        </p:spPr>
        <p:txBody>
          <a:bodyPr/>
          <a:lstStyle>
            <a:lvl1pPr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95131" y="1329999"/>
            <a:ext cx="4754880" cy="5080133"/>
          </a:xfrm>
        </p:spPr>
        <p:txBody>
          <a:bodyPr/>
          <a:lstStyle>
            <a:lvl1pPr>
              <a:defRPr sz="36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>
              <a:defRPr sz="2800"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>
              <a:defRPr sz="2400"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>
              <a:defRPr sz="2000"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55645" y="1329999"/>
            <a:ext cx="4754880" cy="508013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sz="36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>
              <a:defRPr lang="zh-CN" altLang="en-US" sz="32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>
              <a:defRPr lang="zh-CN" altLang="en-US" sz="28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>
              <a:defRPr lang="zh-CN" altLang="en-US" sz="24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>
              <a:defRPr lang="en-US" sz="2000" dirty="0"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719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204" y="441650"/>
            <a:ext cx="7105261" cy="72467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36307" y="1376360"/>
            <a:ext cx="4754880" cy="77724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4000" b="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36307" y="2096333"/>
            <a:ext cx="4754880" cy="424848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sz="36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>
              <a:defRPr lang="zh-CN" altLang="en-US" sz="32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>
              <a:defRPr lang="zh-CN" altLang="en-US" sz="28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>
              <a:defRPr lang="zh-CN" altLang="en-US" sz="24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>
              <a:defRPr lang="en-US" sz="2000" dirty="0"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62479" y="1373881"/>
            <a:ext cx="4754880" cy="77724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4000" b="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362479" y="2094171"/>
            <a:ext cx="4754880" cy="425064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sz="36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>
              <a:defRPr lang="zh-CN" altLang="en-US" sz="32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>
              <a:defRPr lang="zh-CN" altLang="en-US" sz="28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>
              <a:defRPr lang="zh-CN" altLang="en-US" sz="24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>
              <a:defRPr lang="en-US" sz="2000" dirty="0"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4730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841" y="432319"/>
            <a:ext cx="7039947" cy="81798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44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03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461" y="725611"/>
            <a:ext cx="3931920" cy="173736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38531" y="725612"/>
            <a:ext cx="6531428" cy="550723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sz="36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>
              <a:defRPr lang="zh-CN" altLang="en-US" sz="32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>
              <a:defRPr lang="zh-CN" altLang="en-US" sz="28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>
              <a:defRPr lang="zh-CN" altLang="en-US" sz="2400" smtClean="0"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>
              <a:defRPr lang="en-US" sz="2000" dirty="0"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04461" y="2554719"/>
            <a:ext cx="3931920" cy="36781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65431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32" y="696064"/>
            <a:ext cx="3931920" cy="173736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35893" y="696063"/>
            <a:ext cx="6576403" cy="5174384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73832" y="2433423"/>
            <a:ext cx="3931920" cy="3437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8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7538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0402" y="2640564"/>
            <a:ext cx="8767860" cy="1093237"/>
          </a:xfrm>
        </p:spPr>
        <p:txBody>
          <a:bodyPr>
            <a:noAutofit/>
          </a:bodyPr>
          <a:lstStyle>
            <a:lvl1pPr marL="0" indent="0" algn="ctr">
              <a:buNone/>
              <a:defRPr sz="66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189" indent="0" algn="ctr">
              <a:buNone/>
              <a:defRPr sz="2200"/>
            </a:lvl2pPr>
            <a:lvl3pPr marL="914377" indent="0" algn="ctr">
              <a:buNone/>
              <a:defRPr sz="22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724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2250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157" y="609600"/>
            <a:ext cx="8654143" cy="922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algn="ctr">
              <a:spcBef>
                <a:spcPts val="1400"/>
              </a:spcBef>
              <a:buClr>
                <a:schemeClr val="tx1"/>
              </a:buClr>
              <a:buSzPct val="80000"/>
              <a:buFont typeface="Corbel" panose="020B0503020204020204" pitchFamily="34" charset="0"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764" y="1660850"/>
            <a:ext cx="10534261" cy="443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342021" y="6550224"/>
            <a:ext cx="3502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bg2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华中科技大学电子信息与通信学院  左冬红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497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timing>
    <p:tnLst>
      <p:par>
        <p:cTn id="1" dur="indefinite" restart="never" nodeType="tmRoot"/>
      </p:par>
    </p:tnLst>
  </p:timing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en-US" altLang="en-US" sz="5400" kern="1200" dirty="0">
          <a:solidFill>
            <a:schemeClr val="accent3">
              <a:lumMod val="50000"/>
            </a:schemeClr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</p:titleStyle>
    <p:bodyStyle>
      <a:lvl1pPr marL="228594" indent="-182875" algn="l" defTabSz="914377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anose="020B0503020204020204" pitchFamily="34" charset="0"/>
        <a:buChar char="•"/>
        <a:defRPr lang="zh-CN" altLang="en-US" sz="3600" kern="1200" smtClean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4571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pitchFamily="34" charset="0"/>
        <a:buChar char="•"/>
        <a:defRPr lang="zh-CN" altLang="en-US" sz="3200" kern="1200" smtClean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2pPr>
      <a:lvl3pPr marL="731502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pitchFamily="34" charset="0"/>
        <a:buChar char="•"/>
        <a:defRPr lang="zh-CN" altLang="en-US" sz="2800" kern="1200" smtClean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3pPr>
      <a:lvl4pPr marL="100581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pitchFamily="34" charset="0"/>
        <a:buChar char="•"/>
        <a:defRPr lang="zh-CN" altLang="en-US" sz="2400" kern="1200" smtClean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4pPr>
      <a:lvl5pPr marL="128012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pitchFamily="34" charset="0"/>
        <a:buChar char="•"/>
        <a:defRPr lang="en-US" altLang="en-US" sz="2000" kern="1200" dirty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5pPr>
      <a:lvl6pPr marL="1600160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8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20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32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image" Target="../media/image5.pn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微机原理与接口技术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定时器中断应用示例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427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回顾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74" y="242831"/>
            <a:ext cx="7854767" cy="4390004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697445"/>
              </p:ext>
            </p:extLst>
          </p:nvPr>
        </p:nvGraphicFramePr>
        <p:xfrm>
          <a:off x="2482372" y="3804636"/>
          <a:ext cx="9080019" cy="2296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Visio" r:id="rId4" imgW="4467231" imgH="1438417" progId="Visio.Drawing.15">
                  <p:embed/>
                </p:oleObj>
              </mc:Choice>
              <mc:Fallback>
                <p:oleObj name="Visio" r:id="rId4" imgW="4467231" imgH="1438417" progId="Visio.Drawing.15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372" y="3804636"/>
                        <a:ext cx="9080019" cy="22964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3862552" y="3563007"/>
            <a:ext cx="31531" cy="27589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762434" y="3573400"/>
            <a:ext cx="31531" cy="27589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862552" y="5282098"/>
            <a:ext cx="93141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标注 6"/>
          <p:cNvSpPr/>
          <p:nvPr/>
        </p:nvSpPr>
        <p:spPr>
          <a:xfrm>
            <a:off x="4493172" y="4667343"/>
            <a:ext cx="1182414" cy="383519"/>
          </a:xfrm>
          <a:prstGeom prst="wedgeRectCallout">
            <a:avLst>
              <a:gd name="adj1" fmla="val -56747"/>
              <a:gd name="adj2" fmla="val 10264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软件延时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59246" y="1496312"/>
            <a:ext cx="3180607" cy="230832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for(</a:t>
            </a:r>
            <a:r>
              <a:rPr lang="en-US" altLang="zh-CN" sz="2400" dirty="0" err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en-US" altLang="zh-CN" sz="24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 err="1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=0;i&lt;4;i</a:t>
            </a:r>
            <a:r>
              <a:rPr lang="en-US" altLang="zh-CN" sz="24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++)</a:t>
            </a:r>
          </a:p>
          <a:p>
            <a:pPr lvl="0"/>
            <a:r>
              <a:rPr lang="en-US" altLang="zh-CN" sz="24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 lvl="0"/>
            <a:r>
              <a:rPr lang="en-US" altLang="zh-CN" sz="2400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……</a:t>
            </a:r>
            <a:endParaRPr lang="en-US" altLang="zh-CN" sz="2400" dirty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/>
            <a:r>
              <a:rPr lang="en-US" altLang="zh-CN" sz="2400" dirty="0" err="1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delay_ms</a:t>
            </a:r>
            <a:r>
              <a:rPr lang="en-US" altLang="zh-CN" sz="2400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(4); </a:t>
            </a:r>
            <a:r>
              <a:rPr lang="en-US" altLang="zh-CN" sz="24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sz="24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延时</a:t>
            </a:r>
          </a:p>
          <a:p>
            <a:pPr lvl="0"/>
            <a:r>
              <a:rPr lang="en-US" altLang="zh-CN" sz="2400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……</a:t>
            </a:r>
          </a:p>
          <a:p>
            <a:pPr lvl="0"/>
            <a:r>
              <a:rPr lang="en-US" altLang="zh-CN" sz="2400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en-US" altLang="zh-CN" sz="2400" dirty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356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定时器工作原理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2470959" y="3493424"/>
            <a:ext cx="3243681" cy="100584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3363134" y="3002973"/>
            <a:ext cx="0" cy="490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3864669" y="3002973"/>
            <a:ext cx="0" cy="490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4396683" y="3002973"/>
            <a:ext cx="0" cy="490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4970261" y="3002973"/>
            <a:ext cx="0" cy="490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2088573" y="3634740"/>
            <a:ext cx="382386" cy="0"/>
          </a:xfrm>
          <a:prstGeom prst="line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2088573" y="3996344"/>
            <a:ext cx="382386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2088573" y="4298372"/>
            <a:ext cx="29371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2386941" y="4244340"/>
            <a:ext cx="84018" cy="10806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 flipV="1">
            <a:off x="2088573" y="3343795"/>
            <a:ext cx="0" cy="9545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2428950" y="3494273"/>
            <a:ext cx="63831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CET</a:t>
            </a:r>
            <a:endParaRPr lang="zh-CN" altLang="en-US" sz="2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430643" y="3814473"/>
            <a:ext cx="623889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CEP</a:t>
            </a:r>
            <a:endParaRPr lang="zh-CN" altLang="en-US" sz="2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422607" y="4106736"/>
            <a:ext cx="5164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CR</a:t>
            </a:r>
            <a:endParaRPr lang="zh-CN" altLang="en-US" sz="2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195036" y="4027639"/>
            <a:ext cx="492443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LD</a:t>
            </a:r>
            <a:endParaRPr lang="zh-CN" altLang="en-US" sz="2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5800084" y="4196715"/>
            <a:ext cx="899492" cy="16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/>
          <p:cNvSpPr/>
          <p:nvPr/>
        </p:nvSpPr>
        <p:spPr>
          <a:xfrm>
            <a:off x="5716173" y="4145463"/>
            <a:ext cx="84018" cy="10806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207770" y="3614417"/>
            <a:ext cx="50687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TC</a:t>
            </a:r>
            <a:endParaRPr lang="zh-CN" altLang="en-US" sz="2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" name="等腰三角形 43"/>
          <p:cNvSpPr/>
          <p:nvPr/>
        </p:nvSpPr>
        <p:spPr>
          <a:xfrm rot="5400000">
            <a:off x="6036737" y="3639206"/>
            <a:ext cx="307910" cy="35053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6365959" y="3760439"/>
            <a:ext cx="84018" cy="10806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>
            <a:stCxn id="43" idx="3"/>
            <a:endCxn id="44" idx="3"/>
          </p:cNvCxnSpPr>
          <p:nvPr/>
        </p:nvCxnSpPr>
        <p:spPr>
          <a:xfrm>
            <a:off x="5714640" y="3814472"/>
            <a:ext cx="300786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45" idx="6"/>
          </p:cNvCxnSpPr>
          <p:nvPr/>
        </p:nvCxnSpPr>
        <p:spPr>
          <a:xfrm flipV="1">
            <a:off x="6449977" y="3814471"/>
            <a:ext cx="258565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708542" y="3814471"/>
            <a:ext cx="0" cy="3822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129081" y="3434685"/>
            <a:ext cx="50045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en-US" altLang="zh-CN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zh-CN" altLang="en-US" sz="2000" baseline="-25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644919" y="343468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en-US" altLang="zh-CN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000" baseline="-25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158473" y="3434685"/>
            <a:ext cx="50045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en-US" altLang="zh-CN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endParaRPr lang="zh-CN" altLang="en-US" sz="2000" baseline="-25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745835" y="3420973"/>
            <a:ext cx="50045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en-US" altLang="zh-CN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endParaRPr lang="zh-CN" altLang="en-US" sz="2000" baseline="-25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132030" y="4117833"/>
            <a:ext cx="47320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zh-CN" altLang="en-US" sz="2000" baseline="-25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647868" y="4117833"/>
            <a:ext cx="43954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000" baseline="-25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161422" y="4117833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endParaRPr lang="zh-CN" altLang="en-US" sz="2000" baseline="-25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748784" y="4104121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endParaRPr lang="zh-CN" altLang="en-US" sz="2000" baseline="-25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67" name="直接连接符 66"/>
          <p:cNvCxnSpPr/>
          <p:nvPr/>
        </p:nvCxnSpPr>
        <p:spPr>
          <a:xfrm flipV="1">
            <a:off x="3363134" y="4517943"/>
            <a:ext cx="0" cy="490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V="1">
            <a:off x="3864669" y="4517943"/>
            <a:ext cx="0" cy="490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4396683" y="4517943"/>
            <a:ext cx="0" cy="490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 flipV="1">
            <a:off x="4970261" y="4517943"/>
            <a:ext cx="0" cy="490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1734974" y="2950910"/>
            <a:ext cx="60305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DD</a:t>
            </a:r>
            <a:endParaRPr lang="zh-CN" altLang="en-US" sz="2000" baseline="-25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2" name="等腰三角形 71"/>
          <p:cNvSpPr/>
          <p:nvPr/>
        </p:nvSpPr>
        <p:spPr>
          <a:xfrm>
            <a:off x="2939095" y="4334988"/>
            <a:ext cx="189986" cy="164276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73" name="直接连接符 72"/>
          <p:cNvCxnSpPr/>
          <p:nvPr/>
        </p:nvCxnSpPr>
        <p:spPr>
          <a:xfrm flipV="1">
            <a:off x="3034088" y="4499265"/>
            <a:ext cx="0" cy="2639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H="1">
            <a:off x="2214988" y="4747259"/>
            <a:ext cx="819100" cy="2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1679625" y="4564675"/>
            <a:ext cx="492443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CP</a:t>
            </a:r>
            <a:endParaRPr lang="zh-CN" altLang="en-US" sz="20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716531" y="3796289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计数器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843328" y="1661672"/>
            <a:ext cx="2339102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由计数器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构成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3363134" y="5008394"/>
            <a:ext cx="19884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344098" y="4758927"/>
            <a:ext cx="39626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265643" y="4901700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频率固定</a:t>
            </a:r>
          </a:p>
        </p:txBody>
      </p:sp>
      <p:cxnSp>
        <p:nvCxnSpPr>
          <p:cNvPr id="86" name="直接连接符 85"/>
          <p:cNvCxnSpPr/>
          <p:nvPr/>
        </p:nvCxnSpPr>
        <p:spPr>
          <a:xfrm flipV="1">
            <a:off x="5865033" y="2993642"/>
            <a:ext cx="0" cy="831274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 flipH="1" flipV="1">
            <a:off x="5865033" y="2993642"/>
            <a:ext cx="29371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6158751" y="2257511"/>
            <a:ext cx="19800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固定时长定时器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8326356" y="2257511"/>
            <a:ext cx="95410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看门狗</a:t>
            </a:r>
          </a:p>
        </p:txBody>
      </p:sp>
      <p:sp>
        <p:nvSpPr>
          <p:cNvPr id="91" name="矩形 90"/>
          <p:cNvSpPr/>
          <p:nvPr/>
        </p:nvSpPr>
        <p:spPr>
          <a:xfrm>
            <a:off x="6190692" y="278577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定时复位</a:t>
            </a:r>
            <a:endParaRPr lang="zh-CN" altLang="en-US" dirty="0"/>
          </a:p>
        </p:txBody>
      </p:sp>
      <p:sp>
        <p:nvSpPr>
          <p:cNvPr id="93" name="文本框 92"/>
          <p:cNvSpPr txBox="1"/>
          <p:nvPr/>
        </p:nvSpPr>
        <p:spPr>
          <a:xfrm>
            <a:off x="6178402" y="2259510"/>
            <a:ext cx="198002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可变</a:t>
            </a:r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时长定时器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8326356" y="2257511"/>
            <a:ext cx="172354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硬件延时电路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3262603" y="4864326"/>
            <a:ext cx="18674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x  </a:t>
            </a:r>
            <a:r>
              <a:rPr lang="en-US" altLang="zh-CN" sz="2800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800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800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178402" y="2779391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定时中断</a:t>
            </a:r>
            <a:endParaRPr lang="zh-CN" altLang="en-US" dirty="0"/>
          </a:p>
        </p:txBody>
      </p:sp>
      <p:grpSp>
        <p:nvGrpSpPr>
          <p:cNvPr id="123" name="组合 122"/>
          <p:cNvGrpSpPr/>
          <p:nvPr/>
        </p:nvGrpSpPr>
        <p:grpSpPr>
          <a:xfrm>
            <a:off x="983619" y="1914252"/>
            <a:ext cx="4433268" cy="1142448"/>
            <a:chOff x="1006479" y="1571352"/>
            <a:chExt cx="4433268" cy="1142448"/>
          </a:xfrm>
        </p:grpSpPr>
        <p:sp>
          <p:nvSpPr>
            <p:cNvPr id="97" name="矩形 96"/>
            <p:cNvSpPr/>
            <p:nvPr/>
          </p:nvSpPr>
          <p:spPr>
            <a:xfrm>
              <a:off x="2979624" y="2069686"/>
              <a:ext cx="2460123" cy="59694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3808258" y="2173395"/>
              <a:ext cx="95410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寄存器</a:t>
              </a:r>
            </a:p>
          </p:txBody>
        </p:sp>
        <p:cxnSp>
          <p:nvCxnSpPr>
            <p:cNvPr id="99" name="直接连接符 98"/>
            <p:cNvCxnSpPr/>
            <p:nvPr/>
          </p:nvCxnSpPr>
          <p:spPr>
            <a:xfrm flipV="1">
              <a:off x="3482043" y="1571352"/>
              <a:ext cx="0" cy="4904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V="1">
              <a:off x="3983578" y="1571352"/>
              <a:ext cx="0" cy="4904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V="1">
              <a:off x="4515592" y="1571352"/>
              <a:ext cx="0" cy="4904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V="1">
              <a:off x="5089170" y="1571352"/>
              <a:ext cx="0" cy="4904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3247990" y="1984402"/>
              <a:ext cx="50045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Q</a:t>
              </a:r>
              <a:r>
                <a:rPr lang="en-US" altLang="zh-CN" sz="2000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zh-CN" altLang="en-US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3763828" y="1984402"/>
              <a:ext cx="466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Q</a:t>
              </a:r>
              <a:r>
                <a:rPr lang="en-US" altLang="zh-CN" sz="2000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zh-CN" altLang="en-US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4277382" y="1984402"/>
              <a:ext cx="50045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Q</a:t>
              </a:r>
              <a:r>
                <a:rPr lang="en-US" altLang="zh-CN" sz="2000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zh-CN" altLang="en-US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4864744" y="1989352"/>
              <a:ext cx="50045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Q</a:t>
              </a:r>
              <a:r>
                <a:rPr lang="en-US" altLang="zh-CN" sz="2000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zh-CN" altLang="en-US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3204292" y="2313690"/>
              <a:ext cx="4732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2000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zh-CN" altLang="en-US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3720130" y="2313690"/>
              <a:ext cx="43954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2000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zh-CN" altLang="en-US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4233684" y="2313690"/>
              <a:ext cx="4700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2000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zh-CN" altLang="en-US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4821046" y="2299978"/>
              <a:ext cx="4700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2000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zh-CN" altLang="en-US" sz="2000" baseline="-25000" dirty="0" smtClean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1" name="等腰三角形 110"/>
            <p:cNvSpPr/>
            <p:nvPr/>
          </p:nvSpPr>
          <p:spPr>
            <a:xfrm rot="5400000">
              <a:off x="2944087" y="2263009"/>
              <a:ext cx="266930" cy="195856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13" name="直接连接符 112"/>
            <p:cNvCxnSpPr>
              <a:endCxn id="111" idx="3"/>
            </p:cNvCxnSpPr>
            <p:nvPr/>
          </p:nvCxnSpPr>
          <p:spPr>
            <a:xfrm>
              <a:off x="2493819" y="2360937"/>
              <a:ext cx="48580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文本框 115"/>
            <p:cNvSpPr txBox="1"/>
            <p:nvPr/>
          </p:nvSpPr>
          <p:spPr>
            <a:xfrm>
              <a:off x="1006479" y="2159124"/>
              <a:ext cx="151355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 err="1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CaptureTrig</a:t>
              </a:r>
              <a:endPara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17" name="文本框 116"/>
          <p:cNvSpPr txBox="1"/>
          <p:nvPr/>
        </p:nvSpPr>
        <p:spPr>
          <a:xfrm>
            <a:off x="5273917" y="1630749"/>
            <a:ext cx="3052439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测量</a:t>
            </a:r>
            <a:r>
              <a:rPr lang="en-US" altLang="zh-CN" sz="2000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CaptureTrig</a:t>
            </a:r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信号周期</a:t>
            </a:r>
          </a:p>
        </p:txBody>
      </p:sp>
      <p:cxnSp>
        <p:nvCxnSpPr>
          <p:cNvPr id="119" name="直接连接符 118"/>
          <p:cNvCxnSpPr>
            <a:stCxn id="44" idx="1"/>
          </p:cNvCxnSpPr>
          <p:nvPr/>
        </p:nvCxnSpPr>
        <p:spPr>
          <a:xfrm flipV="1">
            <a:off x="6190692" y="3434685"/>
            <a:ext cx="0" cy="302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>
            <a:off x="6190692" y="3420973"/>
            <a:ext cx="8683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/>
          <p:cNvSpPr txBox="1"/>
          <p:nvPr/>
        </p:nvSpPr>
        <p:spPr>
          <a:xfrm>
            <a:off x="6999178" y="3234630"/>
            <a:ext cx="223651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控制是否自动装载</a:t>
            </a:r>
          </a:p>
        </p:txBody>
      </p:sp>
      <p:sp>
        <p:nvSpPr>
          <p:cNvPr id="124" name="文本框 123"/>
          <p:cNvSpPr txBox="1"/>
          <p:nvPr/>
        </p:nvSpPr>
        <p:spPr>
          <a:xfrm>
            <a:off x="5767146" y="4875666"/>
            <a:ext cx="3228851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多个计数器的</a:t>
            </a:r>
            <a:r>
              <a:rPr lang="en-US" altLang="zh-CN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TC</a:t>
            </a:r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输出经过组合逻辑可行成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PWM</a:t>
            </a:r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844013" y="3516919"/>
            <a:ext cx="1084631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控制计数器的使能</a:t>
            </a:r>
          </a:p>
        </p:txBody>
      </p:sp>
      <p:grpSp>
        <p:nvGrpSpPr>
          <p:cNvPr id="152" name="组合 151"/>
          <p:cNvGrpSpPr/>
          <p:nvPr/>
        </p:nvGrpSpPr>
        <p:grpSpPr>
          <a:xfrm>
            <a:off x="8757033" y="3968428"/>
            <a:ext cx="2178325" cy="2352495"/>
            <a:chOff x="8214367" y="3270933"/>
            <a:chExt cx="2178325" cy="2352495"/>
          </a:xfrm>
        </p:grpSpPr>
        <p:cxnSp>
          <p:nvCxnSpPr>
            <p:cNvPr id="129" name="肘形连接符 128"/>
            <p:cNvCxnSpPr/>
            <p:nvPr/>
          </p:nvCxnSpPr>
          <p:spPr>
            <a:xfrm flipV="1">
              <a:off x="8915425" y="3270933"/>
              <a:ext cx="1477267" cy="559150"/>
            </a:xfrm>
            <a:prstGeom prst="bentConnector3">
              <a:avLst>
                <a:gd name="adj1" fmla="val 92555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肘形连接符 132"/>
            <p:cNvCxnSpPr/>
            <p:nvPr/>
          </p:nvCxnSpPr>
          <p:spPr>
            <a:xfrm flipV="1">
              <a:off x="8915425" y="3946001"/>
              <a:ext cx="788645" cy="546871"/>
            </a:xfrm>
            <a:prstGeom prst="bentConnector3">
              <a:avLst>
                <a:gd name="adj1" fmla="val 86233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肘形连接符 136"/>
            <p:cNvCxnSpPr/>
            <p:nvPr/>
          </p:nvCxnSpPr>
          <p:spPr>
            <a:xfrm>
              <a:off x="8915425" y="4620581"/>
              <a:ext cx="1477267" cy="1002847"/>
            </a:xfrm>
            <a:prstGeom prst="bentConnector3">
              <a:avLst>
                <a:gd name="adj1" fmla="val 53095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矩形 139"/>
            <p:cNvSpPr/>
            <p:nvPr/>
          </p:nvSpPr>
          <p:spPr>
            <a:xfrm>
              <a:off x="8401628" y="3657912"/>
              <a:ext cx="56457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TC</a:t>
              </a:r>
              <a:r>
                <a:rPr lang="en-US" altLang="zh-CN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zh-CN" altLang="en-US" baseline="-25000" dirty="0"/>
            </a:p>
          </p:txBody>
        </p:sp>
        <p:sp>
          <p:nvSpPr>
            <p:cNvPr id="141" name="矩形 140"/>
            <p:cNvSpPr/>
            <p:nvPr/>
          </p:nvSpPr>
          <p:spPr>
            <a:xfrm>
              <a:off x="8371415" y="4258979"/>
              <a:ext cx="5357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TC</a:t>
              </a:r>
              <a:r>
                <a:rPr lang="en-US" altLang="zh-CN" baseline="-25000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zh-CN" altLang="en-US" baseline="-25000" dirty="0"/>
            </a:p>
          </p:txBody>
        </p:sp>
        <p:sp>
          <p:nvSpPr>
            <p:cNvPr id="142" name="矩形 141"/>
            <p:cNvSpPr/>
            <p:nvPr/>
          </p:nvSpPr>
          <p:spPr>
            <a:xfrm>
              <a:off x="8214367" y="4571356"/>
              <a:ext cx="76335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PWM</a:t>
              </a:r>
              <a:endParaRPr lang="zh-CN" altLang="en-US" dirty="0"/>
            </a:p>
          </p:txBody>
        </p:sp>
      </p:grpSp>
      <p:sp>
        <p:nvSpPr>
          <p:cNvPr id="153" name="矩形 152"/>
          <p:cNvSpPr/>
          <p:nvPr/>
        </p:nvSpPr>
        <p:spPr>
          <a:xfrm>
            <a:off x="7304650" y="2777908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周期性脉冲信号</a:t>
            </a:r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1265643" y="4298372"/>
            <a:ext cx="9493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14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2" grpId="0" animBg="1"/>
      <p:bldP spid="36" grpId="0"/>
      <p:bldP spid="37" grpId="0"/>
      <p:bldP spid="39" grpId="0"/>
      <p:bldP spid="40" grpId="0"/>
      <p:bldP spid="42" grpId="0" animBg="1"/>
      <p:bldP spid="43" grpId="0"/>
      <p:bldP spid="44" grpId="0" animBg="1"/>
      <p:bldP spid="45" grpId="0" animBg="1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71" grpId="0"/>
      <p:bldP spid="71" grpId="1"/>
      <p:bldP spid="72" grpId="0" animBg="1"/>
      <p:bldP spid="79" grpId="0"/>
      <p:bldP spid="80" grpId="0"/>
      <p:bldP spid="81" grpId="0" animBg="1"/>
      <p:bldP spid="84" grpId="0"/>
      <p:bldP spid="84" grpId="1"/>
      <p:bldP spid="85" grpId="0"/>
      <p:bldP spid="89" grpId="0" animBg="1"/>
      <p:bldP spid="90" grpId="0" animBg="1"/>
      <p:bldP spid="91" grpId="0"/>
      <p:bldP spid="93" grpId="0" animBg="1"/>
      <p:bldP spid="94" grpId="0" animBg="1"/>
      <p:bldP spid="95" grpId="0"/>
      <p:bldP spid="96" grpId="0" animBg="1"/>
      <p:bldP spid="117" grpId="0"/>
      <p:bldP spid="122" grpId="0"/>
      <p:bldP spid="124" grpId="0"/>
      <p:bldP spid="127" grpId="0"/>
      <p:bldP spid="1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AXI Timer</a:t>
            </a:r>
            <a:r>
              <a:rPr lang="zh-CN" altLang="en-US" dirty="0" smtClean="0"/>
              <a:t>定时器</a:t>
            </a:r>
            <a:endParaRPr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206867"/>
              </p:ext>
            </p:extLst>
          </p:nvPr>
        </p:nvGraphicFramePr>
        <p:xfrm>
          <a:off x="394138" y="1387366"/>
          <a:ext cx="11479144" cy="431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r:id="rId3" imgW="4086283" imgH="1209751" progId="Visio.Drawing.15">
                  <p:embed/>
                </p:oleObj>
              </mc:Choice>
              <mc:Fallback>
                <p:oleObj r:id="rId3" imgW="4086283" imgH="1209751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38" y="1387366"/>
                        <a:ext cx="11479144" cy="43197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14310" y="5057772"/>
            <a:ext cx="269817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使能捕获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当前值</a:t>
            </a:r>
          </a:p>
        </p:txBody>
      </p:sp>
      <p:sp>
        <p:nvSpPr>
          <p:cNvPr id="7" name="矩形 6"/>
          <p:cNvSpPr/>
          <p:nvPr/>
        </p:nvSpPr>
        <p:spPr>
          <a:xfrm>
            <a:off x="709448" y="3846786"/>
            <a:ext cx="1923393" cy="1072055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7644" y="2960959"/>
            <a:ext cx="208699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计数暂停</a:t>
            </a:r>
          </a:p>
        </p:txBody>
      </p:sp>
      <p:sp>
        <p:nvSpPr>
          <p:cNvPr id="10" name="矩形 9"/>
          <p:cNvSpPr/>
          <p:nvPr/>
        </p:nvSpPr>
        <p:spPr>
          <a:xfrm>
            <a:off x="1529255" y="3373821"/>
            <a:ext cx="1103586" cy="334033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611710" y="3846786"/>
            <a:ext cx="1923393" cy="4256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611710" y="5057772"/>
            <a:ext cx="1923393" cy="52322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611710" y="5707117"/>
            <a:ext cx="1620957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进位信号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052441" y="5839355"/>
            <a:ext cx="2339102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进位逻辑输出</a:t>
            </a:r>
          </a:p>
        </p:txBody>
      </p:sp>
      <p:sp>
        <p:nvSpPr>
          <p:cNvPr id="15" name="矩形 14"/>
          <p:cNvSpPr/>
          <p:nvPr/>
        </p:nvSpPr>
        <p:spPr>
          <a:xfrm>
            <a:off x="9611709" y="4550318"/>
            <a:ext cx="1045781" cy="4256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391542" y="2368274"/>
            <a:ext cx="271524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进位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\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借位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\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捕获</a:t>
            </a:r>
          </a:p>
        </p:txBody>
      </p:sp>
      <p:sp>
        <p:nvSpPr>
          <p:cNvPr id="17" name="矩形 16"/>
          <p:cNvSpPr/>
          <p:nvPr/>
        </p:nvSpPr>
        <p:spPr>
          <a:xfrm>
            <a:off x="9635355" y="3061470"/>
            <a:ext cx="1337445" cy="457786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5486401" y="4335519"/>
            <a:ext cx="7567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5486401" y="5084050"/>
            <a:ext cx="7567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77461" y="2096815"/>
            <a:ext cx="1655379" cy="501537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94138" y="1570636"/>
            <a:ext cx="126124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时钟源</a:t>
            </a:r>
          </a:p>
        </p:txBody>
      </p:sp>
    </p:spTree>
    <p:extLst>
      <p:ext uri="{BB962C8B-B14F-4D97-AF65-F5344CB8AC3E}">
        <p14:creationId xmlns:p14="http://schemas.microsoft.com/office/powerpoint/2010/main" val="327039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AXI Timer</a:t>
            </a:r>
            <a:r>
              <a:rPr lang="zh-CN" altLang="en-US" dirty="0"/>
              <a:t>工作方式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5856" y="2493818"/>
            <a:ext cx="457200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工作方式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34838" y="1721358"/>
            <a:ext cx="471054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定时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634838" y="4309700"/>
            <a:ext cx="471054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捕获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63012" y="1237262"/>
            <a:ext cx="107422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单次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563011" y="1760482"/>
            <a:ext cx="135131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周期性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58689" y="2270661"/>
            <a:ext cx="960807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周期信号生成</a:t>
            </a:r>
          </a:p>
        </p:txBody>
      </p:sp>
      <p:sp>
        <p:nvSpPr>
          <p:cNvPr id="10" name="矩形 9"/>
          <p:cNvSpPr/>
          <p:nvPr/>
        </p:nvSpPr>
        <p:spPr>
          <a:xfrm>
            <a:off x="2516685" y="147279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24510" y="1250302"/>
            <a:ext cx="23391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装载一次预置值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206279" y="1250302"/>
            <a:ext cx="141577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计数一轮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707386" y="1250302"/>
            <a:ext cx="203132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产生一个中断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11784" y="1870552"/>
            <a:ext cx="23391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自动</a:t>
            </a:r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装载预置值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206279" y="1870551"/>
            <a:ext cx="141577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重复计数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713051" y="1870550"/>
            <a:ext cx="1723549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周期性中断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563010" y="2295600"/>
            <a:ext cx="107422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独立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63009" y="2818820"/>
            <a:ext cx="135131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pwm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707386" y="2413855"/>
            <a:ext cx="178606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generateout</a:t>
            </a:r>
            <a:endParaRPr lang="zh-CN" altLang="en-US" sz="24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11784" y="2413856"/>
            <a:ext cx="23391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自动</a:t>
            </a:r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装载预置值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06279" y="2413855"/>
            <a:ext cx="141577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重复计数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811784" y="2993936"/>
            <a:ext cx="23391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自动</a:t>
            </a:r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装载预置值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206279" y="2993935"/>
            <a:ext cx="141577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重复计数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8741371" y="2993935"/>
            <a:ext cx="105990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pwm0</a:t>
            </a:r>
            <a:endParaRPr lang="zh-CN" altLang="en-US" sz="24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516685" y="4169545"/>
            <a:ext cx="141577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无需预置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303429" y="4169545"/>
            <a:ext cx="141577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重复计数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090173" y="4169545"/>
            <a:ext cx="326243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中断时获取计数当前值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16685" y="4761363"/>
            <a:ext cx="818685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两次中断计数值之差与时钟周期的乘积即为被测信号的周期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516685" y="5353181"/>
            <a:ext cx="1624163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capturetrig</a:t>
            </a:r>
            <a:endParaRPr lang="zh-CN" altLang="en-US" sz="24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" name="左大括号 29"/>
          <p:cNvSpPr/>
          <p:nvPr/>
        </p:nvSpPr>
        <p:spPr>
          <a:xfrm>
            <a:off x="1413164" y="2270661"/>
            <a:ext cx="221674" cy="249070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左大括号 30"/>
          <p:cNvSpPr/>
          <p:nvPr/>
        </p:nvSpPr>
        <p:spPr>
          <a:xfrm>
            <a:off x="2220362" y="1760482"/>
            <a:ext cx="261467" cy="112405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左大括号 31"/>
          <p:cNvSpPr/>
          <p:nvPr/>
        </p:nvSpPr>
        <p:spPr>
          <a:xfrm>
            <a:off x="3427307" y="1472533"/>
            <a:ext cx="240750" cy="523477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左大括号 32"/>
          <p:cNvSpPr/>
          <p:nvPr/>
        </p:nvSpPr>
        <p:spPr>
          <a:xfrm>
            <a:off x="3392760" y="2518263"/>
            <a:ext cx="201290" cy="627115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02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AXI Timer</a:t>
            </a:r>
            <a:r>
              <a:rPr lang="zh-CN" altLang="en-US" dirty="0" smtClean="0"/>
              <a:t>寄存器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319002"/>
              </p:ext>
            </p:extLst>
          </p:nvPr>
        </p:nvGraphicFramePr>
        <p:xfrm>
          <a:off x="340989" y="1868918"/>
          <a:ext cx="11560067" cy="1706880"/>
        </p:xfrm>
        <a:graphic>
          <a:graphicData uri="http://schemas.openxmlformats.org/drawingml/2006/table">
            <a:tbl>
              <a:tblPr firstRow="1" firstCol="1" bandRow="1"/>
              <a:tblGrid>
                <a:gridCol w="1224575">
                  <a:extLst>
                    <a:ext uri="{9D8B030D-6E8A-4147-A177-3AD203B41FA5}">
                      <a16:colId xmlns:a16="http://schemas.microsoft.com/office/drawing/2014/main" val="416052340"/>
                    </a:ext>
                  </a:extLst>
                </a:gridCol>
                <a:gridCol w="1551709">
                  <a:extLst>
                    <a:ext uri="{9D8B030D-6E8A-4147-A177-3AD203B41FA5}">
                      <a16:colId xmlns:a16="http://schemas.microsoft.com/office/drawing/2014/main" val="1402969385"/>
                    </a:ext>
                  </a:extLst>
                </a:gridCol>
                <a:gridCol w="3089563">
                  <a:extLst>
                    <a:ext uri="{9D8B030D-6E8A-4147-A177-3AD203B41FA5}">
                      <a16:colId xmlns:a16="http://schemas.microsoft.com/office/drawing/2014/main" val="1390311108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760211740"/>
                    </a:ext>
                  </a:extLst>
                </a:gridCol>
                <a:gridCol w="1607127">
                  <a:extLst>
                    <a:ext uri="{9D8B030D-6E8A-4147-A177-3AD203B41FA5}">
                      <a16:colId xmlns:a16="http://schemas.microsoft.com/office/drawing/2014/main" val="1888353705"/>
                    </a:ext>
                  </a:extLst>
                </a:gridCol>
                <a:gridCol w="2978729">
                  <a:extLst>
                    <a:ext uri="{9D8B030D-6E8A-4147-A177-3AD203B41FA5}">
                      <a16:colId xmlns:a16="http://schemas.microsoft.com/office/drawing/2014/main" val="147855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偏移地址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功能描述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marL="0" marR="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偏移地址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功能描述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063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TCSR0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0x00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T0</a:t>
                      </a: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控制状态寄存器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TCSR1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0x10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控制状态寄存器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419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TLR0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0x04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T0</a:t>
                      </a: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装载寄存器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TLR1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0x14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装载寄存器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96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TCR0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0x08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T0</a:t>
                      </a: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计数寄存器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TCR1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0x18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计数寄存器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93104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40989" y="2734491"/>
            <a:ext cx="1224574" cy="841307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165273" y="2734491"/>
            <a:ext cx="1136073" cy="841307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45229" y="3729921"/>
            <a:ext cx="346441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位预置值或计数值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296472"/>
              </p:ext>
            </p:extLst>
          </p:nvPr>
        </p:nvGraphicFramePr>
        <p:xfrm>
          <a:off x="3045229" y="5098518"/>
          <a:ext cx="6742413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2413">
                  <a:extLst>
                    <a:ext uri="{9D8B030D-6E8A-4147-A177-3AD203B41FA5}">
                      <a16:colId xmlns:a16="http://schemas.microsoft.com/office/drawing/2014/main" val="4262975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800" kern="100" dirty="0" smtClean="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减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计数：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T=(TLR+2)* AXI_CLK_PERIOD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035987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3045229" y="4407264"/>
            <a:ext cx="8049491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indent="127000" defTabSz="914377"/>
            <a:r>
              <a:rPr lang="zh-CN" altLang="en-US" sz="2800" b="1" kern="1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加计数：</a:t>
            </a:r>
            <a:r>
              <a:rPr lang="en-US" altLang="zh-CN" sz="2800" b="1" kern="1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T=(</a:t>
            </a:r>
            <a:r>
              <a:rPr lang="en-US" altLang="zh-CN" sz="2800" b="1" kern="100" dirty="0">
                <a:latin typeface="华文新魏" panose="02010800040101010101" pitchFamily="2" charset="-122"/>
                <a:ea typeface="华文新魏" panose="02010800040101010101" pitchFamily="2" charset="-122"/>
              </a:rPr>
              <a:t>TCRmax-TLR+2</a:t>
            </a:r>
            <a:r>
              <a:rPr lang="en-US" altLang="zh-CN" sz="2800" b="1" kern="1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)*AXI_CLK_PERIOD</a:t>
            </a:r>
            <a:endParaRPr lang="zh-CN" altLang="en-US" sz="2800" b="1" kern="100" dirty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7602" y="4668874"/>
            <a:ext cx="1749197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27000" defTabSz="914377"/>
            <a:r>
              <a:rPr lang="zh-CN" altLang="en-US" sz="2800" b="1" kern="1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定时间隔</a:t>
            </a:r>
          </a:p>
        </p:txBody>
      </p:sp>
      <p:sp>
        <p:nvSpPr>
          <p:cNvPr id="10" name="左大括号 9"/>
          <p:cNvSpPr/>
          <p:nvPr/>
        </p:nvSpPr>
        <p:spPr>
          <a:xfrm>
            <a:off x="2682708" y="4668874"/>
            <a:ext cx="246611" cy="64300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50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Timer TCSR</a:t>
            </a:r>
            <a:r>
              <a:rPr lang="zh-CN" altLang="en-US" dirty="0" smtClean="0"/>
              <a:t>寄存器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463114"/>
              </p:ext>
            </p:extLst>
          </p:nvPr>
        </p:nvGraphicFramePr>
        <p:xfrm>
          <a:off x="822133" y="1471562"/>
          <a:ext cx="11077304" cy="2926080"/>
        </p:xfrm>
        <a:graphic>
          <a:graphicData uri="http://schemas.openxmlformats.org/drawingml/2006/table">
            <a:tbl>
              <a:tblPr firstRow="1" firstCol="1" bandRow="1"/>
              <a:tblGrid>
                <a:gridCol w="1335211">
                  <a:extLst>
                    <a:ext uri="{9D8B030D-6E8A-4147-A177-3AD203B41FA5}">
                      <a16:colId xmlns:a16="http://schemas.microsoft.com/office/drawing/2014/main" val="1734305043"/>
                    </a:ext>
                  </a:extLst>
                </a:gridCol>
                <a:gridCol w="9742093">
                  <a:extLst>
                    <a:ext uri="{9D8B030D-6E8A-4147-A177-3AD203B41FA5}">
                      <a16:colId xmlns:a16="http://schemas.microsoft.com/office/drawing/2014/main" val="26853543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MDTx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工作模式： 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0 -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定时，</a:t>
                      </a:r>
                      <a:r>
                        <a:rPr lang="en-US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altLang="en-US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捕获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06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UDTx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计数方式：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加计数，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减计数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595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GENTx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generateout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输出使能：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禁止，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使能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062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CAPTx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capturetrig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触发使能：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禁止，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使能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772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ARHTx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自动重复装载：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禁止，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使能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138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LOADx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装载：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不装载，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装载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204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ENITx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中断使能：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禁止，</a:t>
                      </a: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使能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915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ENTx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计数器运行使能：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停止，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启动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392907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013314"/>
              </p:ext>
            </p:extLst>
          </p:nvPr>
        </p:nvGraphicFramePr>
        <p:xfrm>
          <a:off x="822133" y="4777886"/>
          <a:ext cx="11077304" cy="365760"/>
        </p:xfrm>
        <a:graphic>
          <a:graphicData uri="http://schemas.openxmlformats.org/drawingml/2006/table">
            <a:tbl>
              <a:tblPr firstRow="1" firstCol="1" bandRow="1"/>
              <a:tblGrid>
                <a:gridCol w="1335211">
                  <a:extLst>
                    <a:ext uri="{9D8B030D-6E8A-4147-A177-3AD203B41FA5}">
                      <a16:colId xmlns:a16="http://schemas.microsoft.com/office/drawing/2014/main" val="3791759981"/>
                    </a:ext>
                  </a:extLst>
                </a:gridCol>
                <a:gridCol w="9742093">
                  <a:extLst>
                    <a:ext uri="{9D8B030D-6E8A-4147-A177-3AD203B41FA5}">
                      <a16:colId xmlns:a16="http://schemas.microsoft.com/office/drawing/2014/main" val="3314844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PWMAx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脉宽调制使能</a:t>
                      </a:r>
                      <a:r>
                        <a:rPr 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无效，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且</a:t>
                      </a: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MDTx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=0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GENTx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=1-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脉宽输出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148496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41612"/>
              </p:ext>
            </p:extLst>
          </p:nvPr>
        </p:nvGraphicFramePr>
        <p:xfrm>
          <a:off x="822133" y="5146543"/>
          <a:ext cx="11077304" cy="731520"/>
        </p:xfrm>
        <a:graphic>
          <a:graphicData uri="http://schemas.openxmlformats.org/drawingml/2006/table">
            <a:tbl>
              <a:tblPr firstRow="1" firstCol="1" bandRow="1"/>
              <a:tblGrid>
                <a:gridCol w="1335211">
                  <a:extLst>
                    <a:ext uri="{9D8B030D-6E8A-4147-A177-3AD203B41FA5}">
                      <a16:colId xmlns:a16="http://schemas.microsoft.com/office/drawing/2014/main" val="679628654"/>
                    </a:ext>
                  </a:extLst>
                </a:gridCol>
                <a:gridCol w="9742093">
                  <a:extLst>
                    <a:ext uri="{9D8B030D-6E8A-4147-A177-3AD203B41FA5}">
                      <a16:colId xmlns:a16="http://schemas.microsoft.com/office/drawing/2014/main" val="1493514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ENALL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所有计数器使能</a:t>
                      </a:r>
                      <a:r>
                        <a:rPr 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清除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ENALL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位，对</a:t>
                      </a: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ENTx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r>
                        <a:rPr 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影响</a:t>
                      </a:r>
                      <a:r>
                        <a:rPr lang="zh-CN" altLang="en-US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lang="en-US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使能所有计数器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839959"/>
                  </a:ext>
                </a:extLst>
              </a:tr>
              <a:tr h="25553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CASC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级联模式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 1-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级联，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独立 仅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TCSR0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此位有意义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291989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187820"/>
              </p:ext>
            </p:extLst>
          </p:nvPr>
        </p:nvGraphicFramePr>
        <p:xfrm>
          <a:off x="822133" y="4400539"/>
          <a:ext cx="11077304" cy="365760"/>
        </p:xfrm>
        <a:graphic>
          <a:graphicData uri="http://schemas.openxmlformats.org/drawingml/2006/table">
            <a:tbl>
              <a:tblPr firstRow="1" firstCol="1" bandRow="1"/>
              <a:tblGrid>
                <a:gridCol w="1335211">
                  <a:extLst>
                    <a:ext uri="{9D8B030D-6E8A-4147-A177-3AD203B41FA5}">
                      <a16:colId xmlns:a16="http://schemas.microsoft.com/office/drawing/2014/main" val="3680453871"/>
                    </a:ext>
                  </a:extLst>
                </a:gridCol>
                <a:gridCol w="9742093">
                  <a:extLst>
                    <a:ext uri="{9D8B030D-6E8A-4147-A177-3AD203B41FA5}">
                      <a16:colId xmlns:a16="http://schemas.microsoft.com/office/drawing/2014/main" val="2540292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TxINT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计数器中断状态</a:t>
                      </a:r>
                      <a:r>
                        <a:rPr 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：读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无中断，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r>
                        <a:rPr 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中断</a:t>
                      </a:r>
                      <a:r>
                        <a:rPr lang="en-US" alt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r>
                        <a:rPr 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写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无意义，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清中断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状态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04816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318078"/>
              </p:ext>
            </p:extLst>
          </p:nvPr>
        </p:nvGraphicFramePr>
        <p:xfrm>
          <a:off x="351871" y="1108699"/>
          <a:ext cx="470262" cy="4023360"/>
        </p:xfrm>
        <a:graphic>
          <a:graphicData uri="http://schemas.openxmlformats.org/drawingml/2006/table">
            <a:tbl>
              <a:tblPr firstRow="1" firstCol="1" bandRow="1"/>
              <a:tblGrid>
                <a:gridCol w="470262">
                  <a:extLst>
                    <a:ext uri="{9D8B030D-6E8A-4147-A177-3AD203B41FA5}">
                      <a16:colId xmlns:a16="http://schemas.microsoft.com/office/drawing/2014/main" val="1955028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位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157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809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093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180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52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66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894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564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89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alt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58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altLang="zh-CN" sz="2400" kern="100" dirty="0" smtClean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53749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740071"/>
              </p:ext>
            </p:extLst>
          </p:nvPr>
        </p:nvGraphicFramePr>
        <p:xfrm>
          <a:off x="351871" y="5146543"/>
          <a:ext cx="470262" cy="731520"/>
        </p:xfrm>
        <a:graphic>
          <a:graphicData uri="http://schemas.openxmlformats.org/drawingml/2006/table">
            <a:tbl>
              <a:tblPr firstRow="1" firstCol="1" bandRow="1"/>
              <a:tblGrid>
                <a:gridCol w="470262">
                  <a:extLst>
                    <a:ext uri="{9D8B030D-6E8A-4147-A177-3AD203B41FA5}">
                      <a16:colId xmlns:a16="http://schemas.microsoft.com/office/drawing/2014/main" val="1107251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83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3807816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951663"/>
              </p:ext>
            </p:extLst>
          </p:nvPr>
        </p:nvGraphicFramePr>
        <p:xfrm>
          <a:off x="822133" y="1105173"/>
          <a:ext cx="11077304" cy="365760"/>
        </p:xfrm>
        <a:graphic>
          <a:graphicData uri="http://schemas.openxmlformats.org/drawingml/2006/table">
            <a:tbl>
              <a:tblPr firstRow="1" firstCol="1" bandRow="1"/>
              <a:tblGrid>
                <a:gridCol w="1335211">
                  <a:extLst>
                    <a:ext uri="{9D8B030D-6E8A-4147-A177-3AD203B41FA5}">
                      <a16:colId xmlns:a16="http://schemas.microsoft.com/office/drawing/2014/main" val="1104144031"/>
                    </a:ext>
                  </a:extLst>
                </a:gridCol>
                <a:gridCol w="9742093">
                  <a:extLst>
                    <a:ext uri="{9D8B030D-6E8A-4147-A177-3AD203B41FA5}">
                      <a16:colId xmlns:a16="http://schemas.microsoft.com/office/drawing/2014/main" val="24197931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含义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855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71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定时器工作原理</a:t>
            </a:r>
            <a:endParaRPr lang="en-US" altLang="zh-CN" dirty="0" smtClean="0"/>
          </a:p>
          <a:p>
            <a:r>
              <a:rPr lang="en-US" altLang="zh-CN" dirty="0" smtClean="0"/>
              <a:t>AXI Timer</a:t>
            </a:r>
          </a:p>
          <a:p>
            <a:pPr lvl="1"/>
            <a:r>
              <a:rPr lang="zh-CN" altLang="en-US" dirty="0" smtClean="0"/>
              <a:t>结构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工作模式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寄存器</a:t>
            </a:r>
            <a:endParaRPr lang="en-US" altLang="zh-CN" dirty="0" smtClean="0"/>
          </a:p>
          <a:p>
            <a:pPr marL="274314" lvl="1" indent="0">
              <a:buNone/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546764" y="4710545"/>
            <a:ext cx="44935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下一讲：定时器的典型应用</a:t>
            </a:r>
          </a:p>
        </p:txBody>
      </p:sp>
    </p:spTree>
    <p:extLst>
      <p:ext uri="{BB962C8B-B14F-4D97-AF65-F5344CB8AC3E}">
        <p14:creationId xmlns:p14="http://schemas.microsoft.com/office/powerpoint/2010/main" val="242805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微机原理与接口技术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定时器中断应用示例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107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5842" y="432319"/>
            <a:ext cx="5602926" cy="817984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AXI Timer</a:t>
            </a:r>
            <a:r>
              <a:rPr lang="zh-CN" altLang="en-US" dirty="0" smtClean="0"/>
              <a:t>计时模式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444249"/>
              </p:ext>
            </p:extLst>
          </p:nvPr>
        </p:nvGraphicFramePr>
        <p:xfrm>
          <a:off x="299455" y="1557812"/>
          <a:ext cx="6796515" cy="2557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r:id="rId3" imgW="4086283" imgH="1209751" progId="Visio.Drawing.15">
                  <p:embed/>
                </p:oleObj>
              </mc:Choice>
              <mc:Fallback>
                <p:oleObj r:id="rId3" imgW="4086283" imgH="1209751" progId="Visio.Drawing.15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55" y="1557812"/>
                        <a:ext cx="6796515" cy="25576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/>
          <p:nvPr/>
        </p:nvCxnSpPr>
        <p:spPr>
          <a:xfrm>
            <a:off x="3216696" y="3406697"/>
            <a:ext cx="569958" cy="30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4625357" y="2719094"/>
            <a:ext cx="1136012" cy="279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4476200" y="3166120"/>
            <a:ext cx="1285169" cy="446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646748" y="1250303"/>
            <a:ext cx="198002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停止定时器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46748" y="2119680"/>
            <a:ext cx="294984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配置预置值到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TLR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46748" y="2984442"/>
            <a:ext cx="301877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装载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预置值到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TCR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46748" y="3853819"/>
            <a:ext cx="413446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配置工作方式并启动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计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16" name="直接箭头连接符 15"/>
          <p:cNvCxnSpPr>
            <a:stCxn id="11" idx="2"/>
          </p:cNvCxnSpPr>
          <p:nvPr/>
        </p:nvCxnSpPr>
        <p:spPr>
          <a:xfrm flipH="1">
            <a:off x="8636762" y="1773523"/>
            <a:ext cx="1" cy="3461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8636762" y="2640593"/>
            <a:ext cx="1" cy="3461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8636762" y="3516476"/>
            <a:ext cx="1" cy="3461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041764"/>
              </p:ext>
            </p:extLst>
          </p:nvPr>
        </p:nvGraphicFramePr>
        <p:xfrm>
          <a:off x="3071224" y="5346174"/>
          <a:ext cx="6742413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2413">
                  <a:extLst>
                    <a:ext uri="{9D8B030D-6E8A-4147-A177-3AD203B41FA5}">
                      <a16:colId xmlns:a16="http://schemas.microsoft.com/office/drawing/2014/main" val="4262975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>
                        <a:spcAft>
                          <a:spcPts val="0"/>
                        </a:spcAft>
                      </a:pPr>
                      <a:r>
                        <a:rPr lang="zh-CN" sz="2800" kern="100" dirty="0" smtClean="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减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计数：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T=(TLR+2)* AXI_CLK_PERIOD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035987"/>
                  </a:ext>
                </a:extLst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3071224" y="4654920"/>
            <a:ext cx="8049491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indent="127000" defTabSz="914377"/>
            <a:r>
              <a:rPr lang="zh-CN" altLang="en-US" sz="2800" b="1" kern="1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加计数：</a:t>
            </a:r>
            <a:r>
              <a:rPr lang="en-US" altLang="zh-CN" sz="2800" b="1" kern="1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T=(</a:t>
            </a:r>
            <a:r>
              <a:rPr lang="en-US" altLang="zh-CN" sz="2800" b="1" kern="100" dirty="0">
                <a:latin typeface="华文新魏" panose="02010800040101010101" pitchFamily="2" charset="-122"/>
                <a:ea typeface="华文新魏" panose="02010800040101010101" pitchFamily="2" charset="-122"/>
              </a:rPr>
              <a:t>TCRmax-TLR+2</a:t>
            </a:r>
            <a:r>
              <a:rPr lang="en-US" altLang="zh-CN" sz="2800" b="1" kern="1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)*AXI_CLK_PERIOD</a:t>
            </a:r>
            <a:endParaRPr lang="zh-CN" altLang="en-US" sz="2800" b="1" kern="100" dirty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43597" y="4916530"/>
            <a:ext cx="1749197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27000" defTabSz="914377"/>
            <a:r>
              <a:rPr lang="zh-CN" altLang="en-US" sz="2800" b="1" kern="1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定时间隔</a:t>
            </a:r>
          </a:p>
        </p:txBody>
      </p:sp>
      <p:sp>
        <p:nvSpPr>
          <p:cNvPr id="21" name="左大括号 20"/>
          <p:cNvSpPr/>
          <p:nvPr/>
        </p:nvSpPr>
        <p:spPr>
          <a:xfrm>
            <a:off x="2708703" y="4916530"/>
            <a:ext cx="246611" cy="64300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肘形连接符 5"/>
          <p:cNvCxnSpPr/>
          <p:nvPr/>
        </p:nvCxnSpPr>
        <p:spPr>
          <a:xfrm flipV="1">
            <a:off x="5701585" y="1887895"/>
            <a:ext cx="834887" cy="603655"/>
          </a:xfrm>
          <a:prstGeom prst="bentConnector3">
            <a:avLst>
              <a:gd name="adj1" fmla="val 6666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/>
          <p:cNvCxnSpPr/>
          <p:nvPr/>
        </p:nvCxnSpPr>
        <p:spPr>
          <a:xfrm flipV="1">
            <a:off x="6536472" y="1900570"/>
            <a:ext cx="834887" cy="603655"/>
          </a:xfrm>
          <a:prstGeom prst="bentConnector3">
            <a:avLst>
              <a:gd name="adj1" fmla="val 6666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536472" y="1904785"/>
            <a:ext cx="0" cy="5952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75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Timer</a:t>
            </a:r>
            <a:r>
              <a:rPr lang="zh-CN" altLang="en-US" dirty="0" smtClean="0"/>
              <a:t>定时中断示例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97668" y="1124500"/>
            <a:ext cx="6788120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Microblaze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微处理器计算机系统采用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AXI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总线控制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位七段数码管动态显示接口滚屏显示数字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0~3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序列，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要求采用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AXI Timer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定时中断实现，试设计接口电路和控制程序。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7669" y="3005846"/>
            <a:ext cx="3933358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首次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显示数字串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0123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，之后每隔一段时间再依次更换显示数字串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1230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2301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3012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；并循环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34990" y="5077838"/>
            <a:ext cx="111064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计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时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</p:txBody>
      </p:sp>
      <p:sp>
        <p:nvSpPr>
          <p:cNvPr id="6" name="矩形 5"/>
          <p:cNvSpPr/>
          <p:nvPr/>
        </p:nvSpPr>
        <p:spPr>
          <a:xfrm>
            <a:off x="2824263" y="5077838"/>
            <a:ext cx="6747753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位七段数码管动态显示扫描间隔延时；</a:t>
            </a:r>
          </a:p>
        </p:txBody>
      </p:sp>
      <p:sp>
        <p:nvSpPr>
          <p:cNvPr id="7" name="矩形 6"/>
          <p:cNvSpPr/>
          <p:nvPr/>
        </p:nvSpPr>
        <p:spPr>
          <a:xfrm>
            <a:off x="2824264" y="5857168"/>
            <a:ext cx="5961928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）每隔一段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时间更换显示的数字串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687" y="1124500"/>
            <a:ext cx="4307414" cy="13171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503" y="1124748"/>
            <a:ext cx="4307414" cy="13317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824" y="1136463"/>
            <a:ext cx="4297685" cy="133787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824" y="1144659"/>
            <a:ext cx="4283093" cy="14382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872" y="1143604"/>
            <a:ext cx="4307414" cy="131714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688" y="1143852"/>
            <a:ext cx="4307414" cy="133171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009" y="1155567"/>
            <a:ext cx="4297685" cy="133787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8009" y="1163763"/>
            <a:ext cx="4283093" cy="1438275"/>
          </a:xfrm>
          <a:prstGeom prst="rect">
            <a:avLst/>
          </a:prstGeom>
        </p:spPr>
      </p:pic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551848"/>
              </p:ext>
            </p:extLst>
          </p:nvPr>
        </p:nvGraphicFramePr>
        <p:xfrm>
          <a:off x="4731027" y="2958952"/>
          <a:ext cx="7012108" cy="1958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Visio" r:id="rId7" imgW="4467231" imgH="1438417" progId="Visio.Drawing.15">
                  <p:embed/>
                </p:oleObj>
              </mc:Choice>
              <mc:Fallback>
                <p:oleObj name="Visio" r:id="rId7" imgW="4467231" imgH="1438417" progId="Visio.Drawing.15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1027" y="2958952"/>
                        <a:ext cx="7012108" cy="19584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420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5841" y="432318"/>
            <a:ext cx="10809344" cy="817984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Timer</a:t>
            </a:r>
            <a:r>
              <a:rPr lang="zh-CN" altLang="en-US" dirty="0" smtClean="0"/>
              <a:t>定时中断示例接口电路</a:t>
            </a:r>
            <a:r>
              <a:rPr lang="en-US" altLang="zh-CN" dirty="0" smtClean="0"/>
              <a:t>-</a:t>
            </a:r>
            <a:r>
              <a:rPr lang="zh-CN" altLang="en-US" dirty="0" smtClean="0"/>
              <a:t>快速中断</a:t>
            </a:r>
            <a:endParaRPr lang="zh-CN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693420"/>
              </p:ext>
            </p:extLst>
          </p:nvPr>
        </p:nvGraphicFramePr>
        <p:xfrm>
          <a:off x="1051133" y="1494612"/>
          <a:ext cx="9631110" cy="482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Visio" r:id="rId3" imgW="5496009" imgH="2752801" progId="Visio.Drawing.15">
                  <p:embed/>
                </p:oleObj>
              </mc:Choice>
              <mc:Fallback>
                <p:oleObj name="Visio" r:id="rId3" imgW="5496009" imgH="2752801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133" y="1494612"/>
                        <a:ext cx="9631110" cy="4824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599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中断初始化程序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854436" y="1868780"/>
            <a:ext cx="4560864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开放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INTC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中断，写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IER,MER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56039" y="2593034"/>
            <a:ext cx="4559261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开放</a:t>
            </a:r>
            <a:r>
              <a:rPr lang="en-US" altLang="zh-CN" sz="2800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MicroBlaze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中断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写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MSR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35262" y="3474523"/>
            <a:ext cx="4261103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配置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Timer 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T0\T1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工作方式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35262" y="4330780"/>
            <a:ext cx="4902304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填写</a:t>
            </a:r>
            <a:r>
              <a:rPr lang="zh-CN" altLang="en-US" dirty="0"/>
              <a:t>中断向量表</a:t>
            </a:r>
            <a:r>
              <a:rPr lang="en-US" altLang="zh-CN" dirty="0"/>
              <a:t>,</a:t>
            </a:r>
            <a:r>
              <a:rPr lang="zh-CN" altLang="en-US" dirty="0"/>
              <a:t>写</a:t>
            </a:r>
            <a:r>
              <a:rPr lang="en-US" altLang="zh-CN" dirty="0"/>
              <a:t>INTC IVAR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854436" y="5187037"/>
            <a:ext cx="4304383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配置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GPIO 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工作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方式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写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TRI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0664" y="1857405"/>
            <a:ext cx="496963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停止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定时器，并清除中断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TCSR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78097" y="2727445"/>
            <a:ext cx="294984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配置预置值到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TLR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37923" y="3591545"/>
            <a:ext cx="301877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装载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预置值到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TCR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85788" y="4461585"/>
            <a:ext cx="413446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配置工作方式并启动计数</a:t>
            </a:r>
          </a:p>
        </p:txBody>
      </p:sp>
      <p:cxnSp>
        <p:nvCxnSpPr>
          <p:cNvPr id="13" name="直接箭头连接符 12"/>
          <p:cNvCxnSpPr>
            <a:stCxn id="9" idx="2"/>
          </p:cNvCxnSpPr>
          <p:nvPr/>
        </p:nvCxnSpPr>
        <p:spPr>
          <a:xfrm>
            <a:off x="9335479" y="2380625"/>
            <a:ext cx="0" cy="3468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9653019" y="3279630"/>
            <a:ext cx="1" cy="3461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9704891" y="4124241"/>
            <a:ext cx="1" cy="3461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6" idx="3"/>
            <a:endCxn id="9" idx="1"/>
          </p:cNvCxnSpPr>
          <p:nvPr/>
        </p:nvCxnSpPr>
        <p:spPr>
          <a:xfrm flipV="1">
            <a:off x="6196365" y="2119015"/>
            <a:ext cx="654299" cy="1617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6" idx="3"/>
            <a:endCxn id="12" idx="1"/>
          </p:cNvCxnSpPr>
          <p:nvPr/>
        </p:nvCxnSpPr>
        <p:spPr>
          <a:xfrm>
            <a:off x="6196365" y="3736133"/>
            <a:ext cx="1389423" cy="98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854436" y="1217369"/>
            <a:ext cx="3589444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清除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INTC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中断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写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IAR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746035" y="1211101"/>
            <a:ext cx="369203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INTC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快速中断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写</a:t>
            </a:r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IMR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65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中断服务程序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77883" y="1682621"/>
            <a:ext cx="3924472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AXI Timer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中断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服务程序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237738"/>
              </p:ext>
            </p:extLst>
          </p:nvPr>
        </p:nvGraphicFramePr>
        <p:xfrm>
          <a:off x="4594203" y="2156912"/>
          <a:ext cx="7597797" cy="3712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Visio" r:id="rId3" imgW="3762369" imgH="1838434" progId="Visio.Drawing.15">
                  <p:embed/>
                </p:oleObj>
              </mc:Choice>
              <mc:Fallback>
                <p:oleObj name="Visio" r:id="rId3" imgW="3762369" imgH="1838434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03" y="2156912"/>
                        <a:ext cx="7597797" cy="37123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840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5841" y="432318"/>
            <a:ext cx="10602057" cy="81798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位七段数码管动态显示扫描间隔延时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605766"/>
              </p:ext>
            </p:extLst>
          </p:nvPr>
        </p:nvGraphicFramePr>
        <p:xfrm>
          <a:off x="1030272" y="1250302"/>
          <a:ext cx="9080019" cy="2296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Visio" r:id="rId3" imgW="4467231" imgH="1438417" progId="Visio.Drawing.15">
                  <p:embed/>
                </p:oleObj>
              </mc:Choice>
              <mc:Fallback>
                <p:oleObj name="Visio" r:id="rId3" imgW="4467231" imgH="1438417" progId="Visio.Drawing.15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72" y="1250302"/>
                        <a:ext cx="9080019" cy="22964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肘形连接符 4"/>
          <p:cNvCxnSpPr/>
          <p:nvPr/>
        </p:nvCxnSpPr>
        <p:spPr>
          <a:xfrm flipV="1">
            <a:off x="2159963" y="3697838"/>
            <a:ext cx="710119" cy="43774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肘形连接符 5"/>
          <p:cNvCxnSpPr/>
          <p:nvPr/>
        </p:nvCxnSpPr>
        <p:spPr>
          <a:xfrm flipV="1">
            <a:off x="3110031" y="3697838"/>
            <a:ext cx="710119" cy="43774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连接符 6"/>
          <p:cNvCxnSpPr/>
          <p:nvPr/>
        </p:nvCxnSpPr>
        <p:spPr>
          <a:xfrm flipV="1">
            <a:off x="4000112" y="3697838"/>
            <a:ext cx="710119" cy="43774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连接符 7"/>
          <p:cNvCxnSpPr/>
          <p:nvPr/>
        </p:nvCxnSpPr>
        <p:spPr>
          <a:xfrm flipV="1">
            <a:off x="4890193" y="3697838"/>
            <a:ext cx="710119" cy="43774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70818" y="4286623"/>
            <a:ext cx="198002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中断事务：</a:t>
            </a:r>
          </a:p>
        </p:txBody>
      </p:sp>
      <p:sp>
        <p:nvSpPr>
          <p:cNvPr id="11" name="矩形 10"/>
          <p:cNvSpPr/>
          <p:nvPr/>
        </p:nvSpPr>
        <p:spPr>
          <a:xfrm>
            <a:off x="2335061" y="1488070"/>
            <a:ext cx="1050587" cy="515566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3" name="肘形连接符 12"/>
          <p:cNvCxnSpPr/>
          <p:nvPr/>
        </p:nvCxnSpPr>
        <p:spPr>
          <a:xfrm flipV="1">
            <a:off x="5780274" y="3697838"/>
            <a:ext cx="710119" cy="43774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/>
          <p:nvPr/>
        </p:nvCxnSpPr>
        <p:spPr>
          <a:xfrm flipV="1">
            <a:off x="6730342" y="3697838"/>
            <a:ext cx="710119" cy="43774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/>
          <p:nvPr/>
        </p:nvCxnSpPr>
        <p:spPr>
          <a:xfrm flipV="1">
            <a:off x="7620423" y="3697838"/>
            <a:ext cx="710119" cy="43774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/>
          <p:nvPr/>
        </p:nvCxnSpPr>
        <p:spPr>
          <a:xfrm flipV="1">
            <a:off x="8510504" y="3697838"/>
            <a:ext cx="710119" cy="43774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093819" y="5549669"/>
            <a:ext cx="7016472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记录段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码、位码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对应位置值，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110031" y="4286623"/>
            <a:ext cx="880241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从显示缓冲区读取一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位数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码管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对应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的段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码、位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并输出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70082" y="471867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indent="127000"/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segcode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[4]={0xc0,0xf9,0xa4,0xb0};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127000"/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poscode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[4]={0xf7,0xfb,0xfd,0xfe};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620423" y="5573417"/>
            <a:ext cx="21804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中断次数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%4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302044" y="5549669"/>
            <a:ext cx="27443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800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527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7" grpId="0" animBg="1"/>
      <p:bldP spid="18" grpId="0" animBg="1"/>
      <p:bldP spid="20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数字串移位更新</a:t>
            </a:r>
            <a:r>
              <a:rPr lang="zh-CN" altLang="en-US" dirty="0" smtClean="0"/>
              <a:t>延时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770611" y="1554481"/>
            <a:ext cx="413446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间隔时间应为数秒或更长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70611" y="2715237"/>
            <a:ext cx="198002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中断事务：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65814" y="2715237"/>
            <a:ext cx="3775393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更新数码管显示缓冲器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847753" y="4169786"/>
            <a:ext cx="5915674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各位数字段码在显示缓冲区中存储的位置向左循环移动一位</a:t>
            </a:r>
          </a:p>
        </p:txBody>
      </p:sp>
      <p:sp>
        <p:nvSpPr>
          <p:cNvPr id="7" name="矩形 6"/>
          <p:cNvSpPr/>
          <p:nvPr/>
        </p:nvSpPr>
        <p:spPr>
          <a:xfrm>
            <a:off x="1489788" y="3486084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indent="127000"/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segcode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[4]={0xc0,0xf9,0xa4,0xb0</a:t>
            </a:r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89788" y="5243405"/>
            <a:ext cx="53932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127000"/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segcode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</a:t>
            </a:r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]={0xf9,0xa4,0xb0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0xc0};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63223" y="5243405"/>
            <a:ext cx="21804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中断次数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%4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23805" y="5243405"/>
            <a:ext cx="27924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264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定时器中断事务处理</a:t>
            </a:r>
            <a:endParaRPr lang="zh-CN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123823"/>
              </p:ext>
            </p:extLst>
          </p:nvPr>
        </p:nvGraphicFramePr>
        <p:xfrm>
          <a:off x="1421477" y="2111433"/>
          <a:ext cx="10204948" cy="298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Visio" r:id="rId3" imgW="5267254" imgH="1543050" progId="Visio.Drawing.15">
                  <p:embed/>
                </p:oleObj>
              </mc:Choice>
              <mc:Fallback>
                <p:oleObj name="Visio" r:id="rId3" imgW="5267254" imgH="154305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477" y="2111433"/>
                        <a:ext cx="10204948" cy="29842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321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277" y="274377"/>
            <a:ext cx="9620625" cy="817984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中断初始化程序代码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快速中断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04277" y="1092361"/>
            <a:ext cx="11668540" cy="535531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setup_interrupt_system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(void)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kern="1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/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Xil_Out32(XPAR_INTC_0_BASEADDR+XIN_IMR_OFFSET,XPAR_AXI_TIMER_0_INTERRUPT_MASK);</a:t>
            </a:r>
            <a:endParaRPr lang="zh-CN" altLang="zh-CN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Xil_Out32(XPAR_INTC_0_BASEADDR+XIN_IAR_OFFSET,XPAR_AXI_TIMER_0_INTERRUPT_MASK</a:t>
            </a:r>
            <a:r>
              <a:rPr lang="en-US" altLang="zh-CN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Xil_Out32(XPAR_INTC_0_BASEADDR+XIN_IER_OFFSET,XPAR_AXI_TIMER_0_INTERRUPT_MASK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Xil_Out32(XPAR_INTC_0_BASEADDR+XIN_MER_OFFSET,</a:t>
            </a:r>
            <a:endParaRPr lang="zh-CN" altLang="zh-CN" kern="1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0050">
              <a:spcAft>
                <a:spcPts val="0"/>
              </a:spcAft>
            </a:pP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XIN_INT_MASTER_ENABLE_MASK|XIN_INT_HARDWARE_ENABLE_MASK);</a:t>
            </a:r>
            <a:endParaRPr lang="zh-CN" altLang="zh-CN" kern="1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Xil_Out32(XPAR_INTC_0_BASEADDR+XIN_IVAR_OFFSET+</a:t>
            </a:r>
            <a:endParaRPr lang="zh-CN" altLang="zh-CN" kern="1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066800">
              <a:spcAft>
                <a:spcPts val="0"/>
              </a:spcAft>
            </a:pPr>
            <a:r>
              <a:rPr lang="en-US" altLang="zh-CN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4*XPAR_INTC_0_TMRCTR_0_VEC_ID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Timerhandler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indent="1066800">
              <a:spcAft>
                <a:spcPts val="0"/>
              </a:spcAft>
            </a:pPr>
            <a:endParaRPr lang="zh-CN" altLang="zh-CN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Xil_Out32(XPAR_TMRCTR_0_BASEADDR+XTC_TCSR_OFFSET,</a:t>
            </a:r>
            <a:endParaRPr lang="en-US" altLang="zh-CN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Xil_In32(XPAR_TMRCTR_0_BASEADDR+XTC_TCSR_OFFSET )|</a:t>
            </a: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XTC_CSR_INT_OCCURED_MASK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XTC_CSR_ENABLE_INT_MASK</a:t>
            </a: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indent="127000">
              <a:spcAft>
                <a:spcPts val="0"/>
              </a:spcAft>
            </a:pPr>
            <a:endParaRPr lang="zh-CN" altLang="zh-CN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</a:t>
            </a:r>
            <a:r>
              <a:rPr lang="en-US" altLang="zh-CN" kern="1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XTC_TIMER_COUNTER_OFFSET</a:t>
            </a: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+XTC_TCSR_OFFSET,</a:t>
            </a:r>
            <a:r>
              <a:rPr lang="en-US" altLang="zh-CN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kern="1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00150">
              <a:spcAft>
                <a:spcPts val="0"/>
              </a:spcAft>
            </a:pP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Xil_In32(XPAR_TMRCTR_0_BASEADDR+</a:t>
            </a:r>
            <a:r>
              <a:rPr lang="en-US" altLang="zh-CN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XTC_TIMER_COUNTER_OFFSET+</a:t>
            </a: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XTC_TCSR_OFFSET )</a:t>
            </a:r>
          </a:p>
          <a:p>
            <a:pPr indent="1200150">
              <a:spcAft>
                <a:spcPts val="0"/>
              </a:spcAft>
            </a:pP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XTC_CSR_INT_OCCURED_MASK| 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XTC_CSR_ENABLE_INT_MASK</a:t>
            </a:r>
            <a:r>
              <a:rPr lang="en-US" altLang="zh-CN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microblaze_enable_interrupts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en-US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385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IO</a:t>
            </a:r>
            <a:r>
              <a:rPr lang="zh-CN" altLang="en-US" dirty="0" smtClean="0"/>
              <a:t>控制初始化程序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45841" y="1250302"/>
            <a:ext cx="10975599" cy="54784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127000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main(void)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tcsr0,tcsr1;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Xil_Out32(XPAR_GPIO_1_BASEADDR+XGPIO_TRI_OFFSET,0x0</a:t>
            </a:r>
            <a:r>
              <a:rPr lang="en-US" altLang="zh-CN" sz="1400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Xil_Out32(XPAR_GPIO_1_BASEADDR+XGPIO_TRI2_OFFSET,0x0</a:t>
            </a: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tcsr0=Xil_In32(XPAR_TMRCTR_0_BASEADDR+XTC_TCSR_OFFSET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Xil_Out32(XPAR_TMRCTR_0_BASEADDR+XTC_TCSR_OFFSET,tcsr0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&amp;(~XTC_CSR_ENABLE_TMR_MASK));</a:t>
            </a:r>
          </a:p>
          <a:p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tcsr1=Xil_In32(XPAR_TMRCTR_0_BASEADDR+XTC_TIMER_COUNTER_OFFSET+XTC_TCSR_OFFSET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Xil_Out32(XPAR_TMRCTR_0_BASEADDR+XTC_TIMER_COUNTER_OFFSET+XTC_TCSR_OFFSET,</a:t>
            </a:r>
          </a:p>
          <a:p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tcsr1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&amp;(~XTC_CSR_ENABLE_TMR_MASK));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XTC_TLR_OFFSET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,T0_RESET_VALUE);</a:t>
            </a:r>
            <a:endParaRPr lang="zh-CN" altLang="zh-CN" sz="1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Xil_Out32(XPAR_TMRCTR_0_BASEADDR+XTC_TIMER_COUNTER_OFFSET+XTC_TLR_OFFSET,T1_RESET_VALUE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tcsr0=Xil_In32(XPAR_TMRCTR_0_BASEADDR+XTC_TCSR_OFFSET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</a:t>
            </a:r>
            <a:r>
              <a:rPr lang="en-US" altLang="zh-CN" sz="14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XTC_TCSR_OFFSET</a:t>
            </a:r>
            <a:r>
              <a:rPr lang="en-US" altLang="zh-CN" sz="14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,tcsr0|XTC_CSR_LOAD_MASK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tcsr1=Xil_In32(XPAR_TMRCTR_0_BASEADDR+XTC_TIMER_COUNTER_OFFSET+XTC_TCSR_OFFSET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Xil_Out32(XPAR_TMRCTR_0_BASEADDR+XTC_TIMER_COUNTER_OFFSET+XTC_TCSR_OFFSET,tcsr1|XTC_CSR_LOAD_MASK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XTC_TCSR_OFFSET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1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6700">
              <a:spcAft>
                <a:spcPts val="0"/>
              </a:spcAft>
            </a:pPr>
            <a:r>
              <a:rPr lang="en-US" altLang="zh-CN" sz="14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tcsr0| ((XTC_CSR_ENABLE_TMR_MASK|XTC_CSR_DOWN_COUNT_MASK</a:t>
            </a:r>
          </a:p>
          <a:p>
            <a:pPr indent="266700">
              <a:spcAft>
                <a:spcPts val="0"/>
              </a:spcAft>
            </a:pP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|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XTC_CSR_AUTO_RELOAD_MASK)&amp;(~XTC_CSR_LOAD_MASK))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b="1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Xil_Out32(XPAR_TMRCTR_0_BASEADDR+XTC_TIMER_COUNTER_OFFSET+XTC_TCSR_OFFSET,</a:t>
            </a:r>
          </a:p>
          <a:p>
            <a:pPr indent="266700">
              <a:spcAft>
                <a:spcPts val="0"/>
              </a:spcAft>
            </a:pP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tcsr1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((XTC_CSR_ENABLE_TMR_MASK|XTC_CSR_DOWN_COUNT_MASK</a:t>
            </a:r>
          </a:p>
          <a:p>
            <a:pPr indent="266700">
              <a:spcAft>
                <a:spcPts val="0"/>
              </a:spcAft>
            </a:pP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|XTC_CSR_AUTO_RELOAD_MASK)&amp;(~XTC_CSR_LOAD_MASK))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indent="127000"/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400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setup_interrupt_system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en-US" sz="14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538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全局变量及函数申明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87652" y="1250302"/>
            <a:ext cx="7287188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T0_RESET_VALUE 100000-2 //0.001s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T1_RESET_VALUE 100000000-2 //1s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T0handler(void);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T1handler(void);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Timerhandler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(void) __attribute__ ((</a:t>
            </a:r>
            <a:r>
              <a:rPr lang="en-US" altLang="zh-CN" sz="2400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fast_interrupt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endParaRPr lang="zh-CN" altLang="zh-CN" sz="2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setup_interrupt_system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segcode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[4]={0xc0,0xf9,0xa4,0xb0};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poscode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[4]={0xf7,0xfb,0xfd,0xfe};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loop=0,pos=0;</a:t>
            </a:r>
            <a:endParaRPr lang="zh-CN" altLang="en-US" sz="24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30589" y="4330932"/>
            <a:ext cx="3049233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#include "xintc_l.h"</a:t>
            </a:r>
          </a:p>
          <a:p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#include "xtmrctr_l.h"</a:t>
            </a:r>
          </a:p>
          <a:p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#include "xgpio_l.h"</a:t>
            </a:r>
          </a:p>
          <a:p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#include "xparameters.h"</a:t>
            </a:r>
          </a:p>
          <a:p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#include "xio.h"</a:t>
            </a:r>
          </a:p>
          <a:p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#include "xil_exception.h"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7689246" y="3269729"/>
            <a:ext cx="4240684" cy="817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altLang="en-US" sz="5400" kern="1200" dirty="0">
                <a:solidFill>
                  <a:schemeClr val="accent3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1pPr>
          </a:lstStyle>
          <a:p>
            <a:r>
              <a:rPr lang="zh-CN" smtClean="0"/>
              <a:t>宏定义头文件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96744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定时器中断服务程序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44127" y="1171318"/>
            <a:ext cx="9000862" cy="535531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Timerhandler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(void)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=Xil_In32(XPAR_TMRCTR_0_BASEADDR+XTC_TCSR_OFFSET);</a:t>
            </a:r>
            <a:endParaRPr lang="zh-CN" altLang="zh-CN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if((</a:t>
            </a:r>
            <a:r>
              <a:rPr lang="en-US" altLang="zh-CN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tcsr&amp;XTC_CSR_INT_OCCURED_MASK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)==XTC_CSR_INT_OCCURED_MASK)</a:t>
            </a:r>
            <a:endParaRPr lang="zh-CN" altLang="zh-CN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endParaRPr lang="zh-CN" altLang="zh-CN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T0handler();</a:t>
            </a:r>
            <a:endParaRPr lang="zh-CN" altLang="zh-CN" b="1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Xil_Out32(XPAR_TMRCTR_0_BASEADDR+XTC_TCSR_OFFSET,</a:t>
            </a:r>
            <a:endParaRPr lang="zh-CN" altLang="zh-CN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733550">
              <a:spcAft>
                <a:spcPts val="0"/>
              </a:spcAft>
            </a:pPr>
            <a:r>
              <a:rPr lang="en-US" altLang="zh-CN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tcsr|XTC_CSR_INT_OCCURED_MASK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zh-CN" altLang="zh-CN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=Xil_In32(XPAR_TMRCTR_0_BASEADDR+XTC_TIMER_COUNTER_OFFSET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00025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+XTC_TCSR_OFFSET);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if((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tcsr&amp;XTC_CSR_INT_OCCURED_MASK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)==XTC_CSR_INT_OCCURED_MASK)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T1handler();</a:t>
            </a:r>
            <a:endParaRPr lang="zh-CN" altLang="zh-CN" b="1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Xil_Out32(XPAR_TMRCTR_0_BASEADDR+XTC_TIMER_COUNTER_OFFSET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46685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XTC_TCSR_OFFSET,tcsr|XTC_CSR_INT_OCCURED_MASK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en-US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261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中断事务处理函数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288473" y="1250302"/>
            <a:ext cx="1033272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T0handler(void)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Xil_Out32(XPAR_GPIO_1_BASEADDR+XGPIO_DATA_OFFSET,segcode</a:t>
            </a:r>
            <a:r>
              <a:rPr lang="en-US" altLang="zh-CN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</a:t>
            </a:r>
            <a:r>
              <a:rPr lang="en-US" altLang="zh-CN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loop+pos</a:t>
            </a:r>
            <a:r>
              <a:rPr lang="en-US" altLang="zh-CN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)%4]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Xil_Out32(XPAR_GPIO_1_BASEADDR+XGPIO_DATA2_OFFSET,poscode[</a:t>
            </a:r>
            <a:r>
              <a:rPr lang="en-US" altLang="zh-CN" kern="1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==4)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8473" y="3823855"/>
            <a:ext cx="229005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lvl="0" indent="127000"/>
            <a:r>
              <a:rPr lang="en-US" altLang="zh-CN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T1handler(void)</a:t>
            </a:r>
            <a:endParaRPr lang="zh-CN" altLang="zh-CN" kern="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127000"/>
            <a:r>
              <a:rPr lang="en-US" altLang="zh-CN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kern="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127000"/>
            <a:r>
              <a:rPr lang="en-US" altLang="zh-CN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loop++;</a:t>
            </a:r>
            <a:endParaRPr lang="zh-CN" altLang="zh-CN" kern="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127000"/>
            <a:r>
              <a:rPr lang="en-US" altLang="zh-CN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if(loop==4)</a:t>
            </a:r>
            <a:endParaRPr lang="zh-CN" altLang="zh-CN" kern="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127000"/>
            <a:r>
              <a:rPr lang="en-US" altLang="zh-CN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loop=0;</a:t>
            </a:r>
            <a:endParaRPr lang="zh-CN" altLang="zh-CN" kern="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zh-CN" kern="10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en-US" dirty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711134"/>
              </p:ext>
            </p:extLst>
          </p:nvPr>
        </p:nvGraphicFramePr>
        <p:xfrm>
          <a:off x="6666806" y="4376610"/>
          <a:ext cx="7647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426049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T1 loop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05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894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036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7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22215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452269"/>
              </p:ext>
            </p:extLst>
          </p:nvPr>
        </p:nvGraphicFramePr>
        <p:xfrm>
          <a:off x="7431576" y="4007809"/>
          <a:ext cx="2360818" cy="73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204">
                  <a:extLst>
                    <a:ext uri="{9D8B030D-6E8A-4147-A177-3AD203B41FA5}">
                      <a16:colId xmlns:a16="http://schemas.microsoft.com/office/drawing/2014/main" val="2659882273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255256675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3095555"/>
                    </a:ext>
                  </a:extLst>
                </a:gridCol>
                <a:gridCol w="590204">
                  <a:extLst>
                    <a:ext uri="{9D8B030D-6E8A-4147-A177-3AD203B41FA5}">
                      <a16:colId xmlns:a16="http://schemas.microsoft.com/office/drawing/2014/main" val="1003961218"/>
                    </a:ext>
                  </a:extLst>
                </a:gridCol>
              </a:tblGrid>
              <a:tr h="368801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T0 </a:t>
                      </a:r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pos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06837"/>
                  </a:ext>
                </a:extLst>
              </a:tr>
              <a:tr h="368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447170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8952807" y="1845425"/>
            <a:ext cx="1529542" cy="3158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589410"/>
              </p:ext>
            </p:extLst>
          </p:nvPr>
        </p:nvGraphicFramePr>
        <p:xfrm>
          <a:off x="7431576" y="4757810"/>
          <a:ext cx="2360818" cy="36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204">
                  <a:extLst>
                    <a:ext uri="{9D8B030D-6E8A-4147-A177-3AD203B41FA5}">
                      <a16:colId xmlns:a16="http://schemas.microsoft.com/office/drawing/2014/main" val="1525315057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1113476405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1602380075"/>
                    </a:ext>
                  </a:extLst>
                </a:gridCol>
                <a:gridCol w="590204">
                  <a:extLst>
                    <a:ext uri="{9D8B030D-6E8A-4147-A177-3AD203B41FA5}">
                      <a16:colId xmlns:a16="http://schemas.microsoft.com/office/drawing/2014/main" val="1548423857"/>
                    </a:ext>
                  </a:extLst>
                </a:gridCol>
              </a:tblGrid>
              <a:tr h="368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37424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60631"/>
              </p:ext>
            </p:extLst>
          </p:nvPr>
        </p:nvGraphicFramePr>
        <p:xfrm>
          <a:off x="7431576" y="5119309"/>
          <a:ext cx="2360818" cy="36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204">
                  <a:extLst>
                    <a:ext uri="{9D8B030D-6E8A-4147-A177-3AD203B41FA5}">
                      <a16:colId xmlns:a16="http://schemas.microsoft.com/office/drawing/2014/main" val="1498475940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3760868966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2012563139"/>
                    </a:ext>
                  </a:extLst>
                </a:gridCol>
                <a:gridCol w="590204">
                  <a:extLst>
                    <a:ext uri="{9D8B030D-6E8A-4147-A177-3AD203B41FA5}">
                      <a16:colId xmlns:a16="http://schemas.microsoft.com/office/drawing/2014/main" val="3924565727"/>
                    </a:ext>
                  </a:extLst>
                </a:gridCol>
              </a:tblGrid>
              <a:tr h="368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553682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963156"/>
              </p:ext>
            </p:extLst>
          </p:nvPr>
        </p:nvGraphicFramePr>
        <p:xfrm>
          <a:off x="7431576" y="5507812"/>
          <a:ext cx="2360818" cy="36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204">
                  <a:extLst>
                    <a:ext uri="{9D8B030D-6E8A-4147-A177-3AD203B41FA5}">
                      <a16:colId xmlns:a16="http://schemas.microsoft.com/office/drawing/2014/main" val="1248126501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1989938917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1727885942"/>
                    </a:ext>
                  </a:extLst>
                </a:gridCol>
                <a:gridCol w="590204">
                  <a:extLst>
                    <a:ext uri="{9D8B030D-6E8A-4147-A177-3AD203B41FA5}">
                      <a16:colId xmlns:a16="http://schemas.microsoft.com/office/drawing/2014/main" val="3830191966"/>
                    </a:ext>
                  </a:extLst>
                </a:gridCol>
              </a:tblGrid>
              <a:tr h="368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5278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92937"/>
              </p:ext>
            </p:extLst>
          </p:nvPr>
        </p:nvGraphicFramePr>
        <p:xfrm>
          <a:off x="7431576" y="3639008"/>
          <a:ext cx="2360818" cy="36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8">
                  <a:extLst>
                    <a:ext uri="{9D8B030D-6E8A-4147-A177-3AD203B41FA5}">
                      <a16:colId xmlns:a16="http://schemas.microsoft.com/office/drawing/2014/main" val="4260490278"/>
                    </a:ext>
                  </a:extLst>
                </a:gridCol>
              </a:tblGrid>
              <a:tr h="36880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数码管显示的数字串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059299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983061"/>
              </p:ext>
            </p:extLst>
          </p:nvPr>
        </p:nvGraphicFramePr>
        <p:xfrm>
          <a:off x="7431576" y="5862009"/>
          <a:ext cx="2360818" cy="36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204">
                  <a:extLst>
                    <a:ext uri="{9D8B030D-6E8A-4147-A177-3AD203B41FA5}">
                      <a16:colId xmlns:a16="http://schemas.microsoft.com/office/drawing/2014/main" val="2647660694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210095373"/>
                    </a:ext>
                  </a:extLst>
                </a:gridCol>
                <a:gridCol w="590205">
                  <a:extLst>
                    <a:ext uri="{9D8B030D-6E8A-4147-A177-3AD203B41FA5}">
                      <a16:colId xmlns:a16="http://schemas.microsoft.com/office/drawing/2014/main" val="2935115942"/>
                    </a:ext>
                  </a:extLst>
                </a:gridCol>
                <a:gridCol w="590204">
                  <a:extLst>
                    <a:ext uri="{9D8B030D-6E8A-4147-A177-3AD203B41FA5}">
                      <a16:colId xmlns:a16="http://schemas.microsoft.com/office/drawing/2014/main" val="2809875443"/>
                    </a:ext>
                  </a:extLst>
                </a:gridCol>
              </a:tblGrid>
              <a:tr h="368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653862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997738" y="5769145"/>
            <a:ext cx="53932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127000"/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segcode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</a:t>
            </a:r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]={0xf9,0xa4,0xb0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0xc0};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8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普通中断方式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87652" y="1250302"/>
            <a:ext cx="7764883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T0_RESET_VALUE 100000-2 //0.001s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T1_RESET_VALUE 100000000-2 //1s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T0handler(void);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T1handler(void);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Timerhandler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(void) __attribute__ </a:t>
            </a:r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400" kern="1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interrupt_handler</a:t>
            </a:r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setup_interrupt_system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segcode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[4]={0xc0,0xf9,0xa4,0xb0};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poscode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[4]={0xf7,0xfb,0xfd,0xfe};</a:t>
            </a:r>
            <a:endParaRPr lang="zh-CN" altLang="zh-CN" sz="2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kern="1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loop=0,pos=0;</a:t>
            </a:r>
            <a:endParaRPr lang="zh-CN" altLang="en-US" sz="24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21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定时器中断服务程序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44127" y="1171318"/>
            <a:ext cx="8108695" cy="526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6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Timerhandler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(void)</a:t>
            </a:r>
            <a:endParaRPr lang="zh-CN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tcsr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=Xil_In32(XPAR_TMRCTR_0_BASEADDR+XTC_TCSR_OFFSET);</a:t>
            </a:r>
            <a:endParaRPr lang="zh-CN" altLang="zh-CN" sz="1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if((</a:t>
            </a:r>
            <a:r>
              <a:rPr lang="en-US" altLang="zh-CN" sz="1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tcsr&amp;XTC_CSR_INT_OCCURED_MASK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)==XTC_CSR_INT_OCCURED_MASK)</a:t>
            </a:r>
            <a:endParaRPr lang="zh-CN" altLang="zh-CN" sz="1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endParaRPr lang="zh-CN" altLang="zh-CN" sz="1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16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T0handler();</a:t>
            </a:r>
            <a:endParaRPr lang="zh-CN" altLang="zh-CN" sz="16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Xil_Out32(XPAR_TMRCTR_0_BASEADDR+XTC_TCSR_OFFSET,</a:t>
            </a:r>
            <a:endParaRPr lang="zh-CN" altLang="zh-CN" sz="1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733550">
              <a:spcAft>
                <a:spcPts val="0"/>
              </a:spcAft>
            </a:pPr>
            <a:r>
              <a:rPr lang="en-US" altLang="zh-CN" sz="1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tcsr|XTC_CSR_INT_OCCURED_MASK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zh-CN" altLang="zh-CN" sz="1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=Xil_In32(XPAR_TMRCTR_0_BASEADDR+XTC_TIMER_COUNTER_OFFSET</a:t>
            </a:r>
            <a:endParaRPr lang="zh-CN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00025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+XTC_TCSR_OFFSET);</a:t>
            </a:r>
            <a:endParaRPr lang="zh-CN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if((</a:t>
            </a:r>
            <a:r>
              <a:rPr lang="en-US" altLang="zh-CN" sz="16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tcsr&amp;XTC_CSR_INT_OCCURED_MASK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)==XTC_CSR_INT_OCCURED_MASK)</a:t>
            </a:r>
            <a:endParaRPr lang="zh-CN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endParaRPr lang="zh-CN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16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T1handler();</a:t>
            </a:r>
            <a:endParaRPr lang="zh-CN" altLang="zh-CN" sz="1600" b="1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Xil_Out32(XPAR_TMRCTR_0_BASEADDR+XTC_TIMER_COUNTER_OFFSET</a:t>
            </a:r>
            <a:endParaRPr lang="zh-CN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46685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16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XTC_TCSR_OFFSET,tcsr|XTC_CSR_INT_OCCURED_MASK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indent="127000">
              <a:spcAft>
                <a:spcPts val="0"/>
              </a:spcAft>
            </a:pPr>
            <a:endParaRPr lang="en-US" altLang="zh-CN" sz="1600" kern="1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endParaRPr lang="en-US" altLang="zh-CN" sz="16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kern="1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en-US" sz="16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85454" y="5669520"/>
            <a:ext cx="74509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127000"/>
            <a:r>
              <a:rPr lang="en-US" altLang="zh-CN" sz="1600" b="1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Xil_Out32(XPAR_INTC_0_BASEADDR+XIN_IAR_OFFSET</a:t>
            </a:r>
            <a:r>
              <a:rPr lang="en-US" altLang="zh-CN" sz="1600" b="1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0" indent="127000"/>
            <a:r>
              <a:rPr lang="en-US" altLang="zh-CN" sz="1600" b="1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XPAR_AXI_TIMER_0_INTERRUPT_MASK);//</a:t>
            </a:r>
            <a:r>
              <a:rPr lang="zh-CN" altLang="en-US" sz="1600" b="1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</a:t>
            </a:r>
            <a:r>
              <a:rPr lang="en-US" altLang="zh-CN" sz="1600" b="1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INTC IAR</a:t>
            </a:r>
            <a:endParaRPr lang="zh-CN" altLang="zh-CN" sz="1600" b="1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6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277" y="274377"/>
            <a:ext cx="9620625" cy="817984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中断初始化程序代码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普通中断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04277" y="1087442"/>
            <a:ext cx="9778126" cy="46166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setup_interrupt_system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(void)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Xil_Out32(XPAR_INTC_0_BASEADDR+XIN_IAR_OFFSET,XPAR_AXI_TIMER_0_INTERRUPT_MASK</a:t>
            </a:r>
            <a:r>
              <a:rPr lang="en-US" altLang="zh-CN" sz="1400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Xil_Out32(XPAR_INTC_0_BASEADDR+XIN_IER_OFFSET,XPAR_AXI_TIMER_0_INTERRUPT_MASK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Xil_Out32(XPAR_INTC_0_BASEADDR+XIN_IMR_OFFSET,XPAR_AXI_TIMER_0_INTERRUPT_MASK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Xil_Out32(XPAR_INTC_0_BASEADDR+XIN_MER_OFFSET,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005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XIN_INT_MASTER_ENABLE_MASK|XIN_INT_HARDWARE_ENABLE_MASK);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Xil_Out32(XPAR_INTC_0_BASEADDR+XIN_IVAR_OFFSET+</a:t>
            </a:r>
            <a:endParaRPr lang="zh-CN" altLang="zh-CN" sz="1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066800">
              <a:spcAft>
                <a:spcPts val="0"/>
              </a:spcAft>
            </a:pP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4*XPAR_INTC_0_TMRCTR_0_VEC_ID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b="1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1400" b="1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Timerhandler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zh-CN" sz="1400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Xil_Out32(XPAR_TMRCTR_0_BASEADDR+XTC_TCSR_OFFSET,</a:t>
            </a:r>
            <a:endParaRPr lang="zh-CN" altLang="zh-CN" sz="1400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600200">
              <a:spcAft>
                <a:spcPts val="0"/>
              </a:spcAft>
            </a:pP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Xil_In32(XPAR_TMRCTR_0_BASEADDR+XTC_TCSR_OFFSET )|XTC_CSR_INT_OCCURED_MASK</a:t>
            </a:r>
            <a:r>
              <a:rPr lang="en-US" altLang="zh-CN" sz="1400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Xil_Out32(XPAR_TMRCTR_0_BASEADDR+XTC_TCSR_OFFSET,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73355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Xil_In32(XPAR_TMRCTR_0_BASEADDR+XTC_TCSR_OFFSET )| 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XTC_CSR_ENABLE_INT_MASK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Xil_Out32(XPAR_TMRCTR_0_BASEADDR+XTC_TIMER_COUNTER_OFFSET+XTC_TCSR_OFFSET,</a:t>
            </a:r>
            <a:r>
              <a:rPr lang="en-US" altLang="zh-CN" sz="1400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400" kern="1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00150">
              <a:spcAft>
                <a:spcPts val="0"/>
              </a:spcAft>
            </a:pP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Xil_In32(XPAR_TMRCTR_0_BASEADDR+</a:t>
            </a:r>
            <a:r>
              <a:rPr lang="en-US" altLang="zh-CN" sz="1400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XTC_TIMER_COUNTER_OFFSET+</a:t>
            </a: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XTC_TCSR_OFFSET )</a:t>
            </a:r>
          </a:p>
          <a:p>
            <a:pPr indent="1200150">
              <a:spcAft>
                <a:spcPts val="0"/>
              </a:spcAft>
            </a:pP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XTC_CSR_INT_OCCURED_MASK</a:t>
            </a:r>
            <a:r>
              <a:rPr lang="en-US" altLang="zh-CN" sz="1400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Xil_Out32(XPAR_TMRCTR_0_BASEADDR+XTC_TIMER_COUNTER_OFFSET+XTC_TCSR_OFFSET,</a:t>
            </a:r>
            <a:r>
              <a:rPr lang="en-US" altLang="zh-CN" sz="1400" kern="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400" kern="1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0015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Xil_In32(XPAR_TMRCTR_0_BASEADDR+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XTC_TIMER_COUNTER_OFFSET+</a:t>
            </a: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XTC_TCSR_OFFSET )</a:t>
            </a:r>
          </a:p>
          <a:p>
            <a:pPr indent="1200150">
              <a:spcAft>
                <a:spcPts val="0"/>
              </a:spcAft>
            </a:pPr>
            <a:r>
              <a:rPr lang="en-US" altLang="zh-CN" sz="1400" kern="1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1400" kern="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XTC_CSR_ENABLE_INT_MASK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27000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microblaze_enable_interrupts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zh-CN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en-US" sz="14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88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定时器工作在</a:t>
            </a:r>
            <a:r>
              <a:rPr lang="zh-CN" altLang="en-US" dirty="0" smtClean="0"/>
              <a:t>循环计时方式</a:t>
            </a:r>
            <a:r>
              <a:rPr lang="zh-CN" altLang="en-US" dirty="0" smtClean="0"/>
              <a:t>的初始化控制流程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停止定时器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写计数初值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装载计数初值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启动定时器并配置工作模式、启用中断</a:t>
            </a:r>
            <a:endParaRPr lang="en-US" altLang="zh-CN" dirty="0" smtClean="0"/>
          </a:p>
          <a:p>
            <a:r>
              <a:rPr lang="en-US" altLang="zh-CN" dirty="0" smtClean="0"/>
              <a:t>Timer</a:t>
            </a:r>
            <a:r>
              <a:rPr lang="zh-CN" altLang="en-US" dirty="0" smtClean="0"/>
              <a:t>快速中断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Timer</a:t>
            </a:r>
            <a:r>
              <a:rPr lang="zh-CN" altLang="en-US" dirty="0" smtClean="0"/>
              <a:t>的中断服务程序仍需查询中断源，并清除各个定时的中断状态</a:t>
            </a:r>
            <a:endParaRPr lang="en-US" altLang="zh-CN" dirty="0" smtClean="0"/>
          </a:p>
        </p:txBody>
      </p:sp>
      <p:sp>
        <p:nvSpPr>
          <p:cNvPr id="2" name="文本框 1"/>
          <p:cNvSpPr txBox="1"/>
          <p:nvPr/>
        </p:nvSpPr>
        <p:spPr>
          <a:xfrm>
            <a:off x="5367131" y="5647779"/>
            <a:ext cx="58640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下一讲：定时器测量外部信号周期</a:t>
            </a:r>
            <a:endParaRPr lang="zh-CN" altLang="en-US" sz="28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215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/>
    </p:bldLst>
  </p:timing>
</p:sld>
</file>

<file path=ppt/theme/theme1.xml><?xml version="1.0" encoding="utf-8"?>
<a:theme xmlns:a="http://schemas.openxmlformats.org/drawingml/2006/main" name="基础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基础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础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>
        <a:spAutoFit/>
      </a:bodyPr>
      <a:lstStyle>
        <a:defPPr>
          <a:defRPr sz="2800" dirty="0" smtClean="0">
            <a:latin typeface="华文新魏" panose="02010800040101010101" pitchFamily="2" charset="-122"/>
            <a:ea typeface="华文新魏" panose="0201080004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08-04-02 中断程序设计基础-C语言API函数</Template>
  <TotalTime>3332</TotalTime>
  <Words>1086</Words>
  <Application>Microsoft Office PowerPoint</Application>
  <PresentationFormat>宽屏</PresentationFormat>
  <Paragraphs>405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华文新魏</vt:lpstr>
      <vt:lpstr>宋体</vt:lpstr>
      <vt:lpstr>微软雅黑</vt:lpstr>
      <vt:lpstr>Corbel</vt:lpstr>
      <vt:lpstr>Times New Roman</vt:lpstr>
      <vt:lpstr>基础</vt:lpstr>
      <vt:lpstr>Visio</vt:lpstr>
      <vt:lpstr>Microsoft Visio 绘图</vt:lpstr>
      <vt:lpstr>微机原理与接口技术</vt:lpstr>
      <vt:lpstr>回顾</vt:lpstr>
      <vt:lpstr>定时器工作原理</vt:lpstr>
      <vt:lpstr>AXI Timer定时器</vt:lpstr>
      <vt:lpstr>AXI Timer工作方式</vt:lpstr>
      <vt:lpstr>AXI Timer寄存器</vt:lpstr>
      <vt:lpstr>Timer TCSR寄存器</vt:lpstr>
      <vt:lpstr>小结</vt:lpstr>
      <vt:lpstr>微机原理与接口技术</vt:lpstr>
      <vt:lpstr>AXI Timer计时模式</vt:lpstr>
      <vt:lpstr>Timer定时中断示例</vt:lpstr>
      <vt:lpstr>Timer定时中断示例接口电路-快速中断</vt:lpstr>
      <vt:lpstr>中断初始化程序</vt:lpstr>
      <vt:lpstr>中断服务程序</vt:lpstr>
      <vt:lpstr>4位七段数码管动态显示扫描间隔延时</vt:lpstr>
      <vt:lpstr>数字串移位更新延时</vt:lpstr>
      <vt:lpstr>定时器中断事务处理</vt:lpstr>
      <vt:lpstr>中断初始化程序代码——快速中断</vt:lpstr>
      <vt:lpstr>IO控制初始化程序</vt:lpstr>
      <vt:lpstr>全局变量及函数申明</vt:lpstr>
      <vt:lpstr>定时器中断服务程序</vt:lpstr>
      <vt:lpstr>中断事务处理函数</vt:lpstr>
      <vt:lpstr>普通中断方式</vt:lpstr>
      <vt:lpstr>定时器中断服务程序</vt:lpstr>
      <vt:lpstr>中断初始化程序代码——普通中断</vt:lpstr>
      <vt:lpstr>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sixizuo</dc:creator>
  <cp:lastModifiedBy>Peng Minggao</cp:lastModifiedBy>
  <cp:revision>84</cp:revision>
  <dcterms:created xsi:type="dcterms:W3CDTF">2019-04-25T14:15:14Z</dcterms:created>
  <dcterms:modified xsi:type="dcterms:W3CDTF">2019-12-05T13:00:51Z</dcterms:modified>
</cp:coreProperties>
</file>